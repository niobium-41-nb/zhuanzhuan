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37160"/>
            <a:ext cx="137160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3716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</a:defRPr>
            </a:pPr>
            <a:r>
              <a:t>转转</a:t>
            </a:r>
          </a:p>
          <a:p>
            <a:pPr algn="ctr">
              <a:defRPr sz="3000">
                <a:solidFill>
                  <a:srgbClr val="CCCCCC"/>
                </a:solidFill>
              </a:defRPr>
            </a:pPr>
            <a:r>
              <a:t>校园二手物品交易平台</a:t>
            </a:r>
          </a:p>
          <a:p>
            <a:pPr>
              <a:defRPr sz="2000"/>
            </a:pPr>
          </a:p>
          <a:p>
            <a:pPr algn="ctr">
              <a:defRPr sz="2400">
                <a:solidFill>
                  <a:srgbClr val="AAAAAA"/>
                </a:solidFill>
              </a:defRPr>
            </a:pPr>
            <a:r>
              <a:t>软件工程实训 · 课程设计答辩</a:t>
            </a:r>
          </a:p>
          <a:p>
            <a:pPr>
              <a:defRPr sz="1600"/>
            </a:pPr>
          </a:p>
          <a:p>
            <a:pPr algn="ctr">
              <a:defRPr sz="1800">
                <a:solidFill>
                  <a:srgbClr val="888888"/>
                </a:solidFill>
              </a:defRPr>
            </a:pPr>
            <a:r>
              <a:t>张可凡 · 阮崇轩 · 李硕 · 刘轩霆 · 胡欣悦</a:t>
            </a:r>
          </a:p>
          <a:p>
            <a:pPr algn="ctr">
              <a:defRPr sz="1600">
                <a:solidFill>
                  <a:srgbClr val="777777"/>
                </a:solidFill>
              </a:defRPr>
            </a:pPr>
            <a:r>
              <a:t>华中农业大学 · 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37160"/>
            <a:ext cx="137160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AF"/>
                </a:solidFill>
              </a:defRPr>
            </a:pPr>
            <a:r>
              <a:t>2/20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</a:defRPr>
            </a:pPr>
            <a:r>
              <a:t>项目概述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B7280"/>
                </a:solidFill>
              </a:defRPr>
            </a:pPr>
            <a:r>
              <a:t>校园 C2C 二手交易平台 — 前后端分离 · Docker 容器化 · 完整交易闭环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2377440" cy="10972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D6A4F"/>
                </a:solidFill>
              </a:defRPr>
            </a:pPr>
            <a:r>
              <a:t>26,000+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7280"/>
                </a:solidFill>
              </a:defRPr>
            </a:pPr>
            <a:r>
              <a:t>总代码行数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554480"/>
            <a:ext cx="2377440" cy="10972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64592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D6A4F"/>
                </a:solidFill>
              </a:defRPr>
            </a:pPr>
            <a:r>
              <a:t>30+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1945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7280"/>
                </a:solidFill>
              </a:defRPr>
            </a:pPr>
            <a:r>
              <a:t>REST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554480"/>
            <a:ext cx="2377440" cy="10972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64592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D6A4F"/>
                </a:solidFill>
              </a:defRPr>
            </a:pPr>
            <a: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1945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7280"/>
                </a:solidFill>
              </a:defRPr>
            </a:pPr>
            <a:r>
              <a:t>前端页面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1554480"/>
            <a:ext cx="2377440" cy="10972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64592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D6A4F"/>
                </a:solidFill>
              </a:defRPr>
            </a:pPr>
            <a:r>
              <a:t>217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945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7280"/>
                </a:solidFill>
              </a:defRPr>
            </a:pPr>
            <a:r>
              <a:t>商品数据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017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核心技术栈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4747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Vue 3 + TypeScript + Vite 5 + Element Plus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SpringBoot 3.2 + MyBatis-Plus + Security + JWT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MySQL 8.0（全文索引） + Redis 7（缓存/黑名单）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Docker Compose 五容器编排 + Nginx 反向代理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474720"/>
            <a:ext cx="5029200" cy="228600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3434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BBBBB"/>
                </a:solidFill>
              </a:defRPr>
            </a:pPr>
            <a:r>
              <a:t>📷 架构图或截图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37160"/>
            <a:ext cx="137160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AF"/>
                </a:solidFill>
              </a:defRPr>
            </a:pPr>
            <a:r>
              <a:t>3/20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</a:defRPr>
            </a:pPr>
            <a:r>
              <a:t>浏览与交易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商品浏览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首页 Hero 横幅 + 实时统计（17用户/217商品）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分类 Tab 切换 · 全文搜索 · 价格/成色筛选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商品详情：图片画廊 + 卖家信息卡片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联系卖家按钮 → 一键跳转聊天窗口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5029200" cy="210312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BBBBB"/>
                </a:solidFill>
              </a:defRPr>
            </a:pPr>
            <a:r>
              <a:t>📷 首页截图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交易流程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69080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下单时弹出地址选择（默认地址高亮）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模拟支付：3 种方式 + spinner + 成功动画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发货：物流公司卡片选择 + 单号录入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657600"/>
            <a:ext cx="5029200" cy="210312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4348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BBBBB"/>
                </a:solidFill>
              </a:defRPr>
            </a:pPr>
            <a:r>
              <a:t>📷 支付页面截图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37160"/>
            <a:ext cx="137160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AF"/>
                </a:solidFill>
              </a:defRPr>
            </a:pPr>
            <a:r>
              <a:t>4/20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</a:defRPr>
            </a:pPr>
            <a:r>
              <a:t>消息与订单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实时消息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双栏聊天：会话列表 + 聊天气泡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每 5 秒自动拉取新消息（无需刷新）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头部铃铛通知 · 点击直接跳转对应页面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发消息/下单/付款/发货 自动推送通知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5029200" cy="210312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BBBBB"/>
                </a:solidFill>
              </a:defRPr>
            </a:pPr>
            <a:r>
              <a:t>📷 聊天截图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订单管理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69080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订单状态进度条（待付款→待发货→待收货→完成）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买家：支付 · 确认收货 · 星级评价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卖家：录入物流（8家快递） · 查看待发货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657600"/>
            <a:ext cx="5029200" cy="210312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4348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BBBBB"/>
                </a:solidFill>
              </a:defRPr>
            </a:pPr>
            <a:r>
              <a:t>📷 订单截图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37160"/>
            <a:ext cx="137160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AF"/>
                </a:solidFill>
              </a:defRPr>
            </a:pPr>
            <a:r>
              <a:t>5/20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</a:defRPr>
            </a:pPr>
            <a:r>
              <a:t>管理后台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五大管理模块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用户管理：列表 · 启用/禁用 · 角色分配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商品审核：通过/驳回 · 违规下架 · 编辑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订单管理：状态筛选 · 标记操作 · 详情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数据统计：ECharts 饼图 + 折线图 · 自适应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公告管理：发布/草稿 · 编辑 · 删除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侧边栏导航 · 路由鉴权 · 响应式折叠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非管理员自动重定向到首页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00400"/>
            <a:ext cx="10515600" cy="292608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BBBBB"/>
                </a:solidFill>
              </a:defRPr>
            </a:pPr>
            <a:r>
              <a:t>📷 管理后台截图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37160"/>
            <a:ext cx="137160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AF"/>
                </a:solidFill>
              </a:defRPr>
            </a:pPr>
            <a:r>
              <a:t>6/20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</a:defRPr>
            </a:pPr>
            <a:r>
              <a:t>安全架构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76F51"/>
                </a:solidFill>
              </a:defRPr>
            </a:pPr>
            <a:r>
              <a:t>认证与授权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JWT 双 Token：Access 2h + Refresh 7d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请求队列机制：多请求 401 只刷新一次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Token 黑名单：登出即失效（Redis）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三级权限：公开 · 认证 · 管理员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76F51"/>
                </a:solidFill>
              </a:defRPr>
            </a:pPr>
            <a:r>
              <a:t>防护措施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验证码类型隔离（注册/重置不可互用）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频率限制：登录/验证码/密码重置三层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BCrypt 密码哈希 + XSS 过滤 + MIME 校验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软删除 + 敏感信息脱敏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订单安全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86200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悲观锁 selectForUpdate 防双重出售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自买自卖校验 · 订单日志全追溯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13 张表 · InnoDB · utf8mb4 · 全文索引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474720"/>
            <a:ext cx="5029200" cy="201168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206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BBBBB"/>
                </a:solidFill>
              </a:defRPr>
            </a:pPr>
            <a:r>
              <a:t>📷 安全架构图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37160"/>
            <a:ext cx="137160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AF"/>
                </a:solidFill>
              </a:defRPr>
            </a:pPr>
            <a:r>
              <a:t>7/20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</a:defRPr>
            </a:pPr>
            <a:r>
              <a:t>Docker 部署架构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五容器编排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Nginx（Vue3 SPA → :3000）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SpringBoot 3.2（Java 17 → :8080）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MySQL 8.0 · Redis 7 · phpMyAdmin（:3001）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Docker Network Bridge · 内部通信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B7280"/>
                </a:solidFill>
              </a:defRPr>
            </a:pPr>
            <a:r>
              <a:t>一键启动：docker-compose up -d --build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运维特性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健康检查依赖启动顺序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4 个 MySQL 自动初始化脚本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数据卷持久化（mysql/redis/upload）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TZ=Asia/Shanghai 时区修复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91840"/>
            <a:ext cx="10515600" cy="292608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BBBBB"/>
                </a:solidFill>
              </a:defRPr>
            </a:pPr>
            <a:r>
              <a:t>📷 Docker 架构图或容器运行截图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37160"/>
            <a:ext cx="137160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AF"/>
                </a:solidFill>
              </a:defRPr>
            </a:pPr>
            <a:r>
              <a:t>8/20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</a:defRPr>
            </a:pPr>
            <a:r>
              <a:t>全栈开发 / 项目管理 / 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68580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编写 docker-compose.yml 五容器编排 + Nginx 配置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管理后台前端 5 个页面（用户/商品/订单/统计/公告）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Postman 30+ 接口测试 + 前后端全量联调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7 份软件工程文档 + README + 项目进度管理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发现并修复中文编码 · 时区偏移 · JWT 刷新冲突等关键 Bug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188720"/>
            <a:ext cx="3474720" cy="457200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32004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BBBBB"/>
                </a:solidFill>
              </a:defRPr>
            </a:pPr>
            <a:r>
              <a:t>📷 截图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37160"/>
            <a:ext cx="137160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AF"/>
                </a:solidFill>
              </a:defRPr>
            </a:pPr>
            <a:r>
              <a:t>9/20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</a:defRPr>
            </a:pPr>
            <a:r>
              <a:t>前端开发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68580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Vue3 工程搭建 + CSS 设计令牌体系 + Element Plus 全局覆盖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登录 / 注册 / 找回密码 · Axios Token 自动刷新队列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消息系统：双栏聊天 + 5s 实时轮询 + 通知铃铛 Popover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订单详情：买家卖家双视角 · 物流录入 · 评价打分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UI 动效：骨架屏 · 过渡动画 · 回到顶部 · 滚动导航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188720"/>
            <a:ext cx="3474720" cy="457200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32004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BBBBB"/>
                </a:solidFill>
              </a:defRPr>
            </a:pPr>
            <a:r>
              <a:t>📷 截图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37160"/>
            <a:ext cx="137160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AF"/>
                </a:solidFill>
              </a:defRPr>
            </a:pPr>
            <a:r>
              <a:t>10/20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</a:defRPr>
            </a:pPr>
            <a:r>
              <a:t>前端开发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68580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首页：Hero 横幅 + 公告轮播 + 分类导航 + 商品网格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商品模块：列表筛选 · 详情画廊 · 发布多图上传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购物车 + 订单列表（Tab 切换 + 双视角）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管理后台 5 页面 + ECharts 饼图/折线图可视化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217 件种子数据 SQL + 三版图片方案迭代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188720"/>
            <a:ext cx="3474720" cy="457200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32004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BBBBB"/>
                </a:solidFill>
              </a:defRPr>
            </a:pPr>
            <a:r>
              <a:t>📷 截图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37160"/>
            <a:ext cx="137160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AF"/>
                </a:solidFill>
              </a:defRPr>
            </a:pPr>
            <a:r>
              <a:t>11/20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</a:defRPr>
            </a:pPr>
            <a:r>
              <a:t>后端开发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68580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Spring Security + JWT 认证 · 三级权限 · 频率限制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商品 API：分页/搜索/筛选/排序 · N+1 批量优化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订单核心：悲观锁 · 状态机 · 订单日志 · 自买自卖校验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13 张数据库表设计（ENUM 约束 · 全文索引 · 软删除）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后台管理 API · Knife4j 文档 · 14 单元测试全通过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188720"/>
            <a:ext cx="3474720" cy="457200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32004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BBBBB"/>
                </a:solidFill>
              </a:defRPr>
            </a:pPr>
            <a:r>
              <a:t>📷 截图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37160"/>
            <a:ext cx="137160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AF"/>
                </a:solidFill>
              </a:defRPr>
            </a:pPr>
            <a:r>
              <a:t>12/20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</a:defRPr>
            </a:pPr>
            <a:r>
              <a:t>后端开发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68580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购物车 CRUD + 去重 · 消息/通知模块（8 端点）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数据统计（首页 · 分类树 Redis 缓存 · 后台趋势）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文件上传（MIME 校验 · Docker Volume 持久化）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Docker 运维：后端多阶段构建 · MySQL 初始化脚本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订单/消息自动通知触发 + phpMyAdmin 集成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188720"/>
            <a:ext cx="3474720" cy="457200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32004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BBBBB"/>
                </a:solidFill>
              </a:defRPr>
            </a:pPr>
            <a:r>
              <a:t>📷 截图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37160"/>
            <a:ext cx="137160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AF"/>
                </a:solidFill>
              </a:defRPr>
            </a:pPr>
            <a:r>
              <a:t>13/20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</a:defRPr>
            </a:pPr>
            <a:r>
              <a:t>前端设计体系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CSS 设计令牌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主色 #2D6A4F（森林绿）+ 强调 #E76F51（暖橙）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8 个圆角/阴影变量 + 品牌色全局统一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Element Plus 全局覆盖 8 类组件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21 个页面风格 100% 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动效系统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骨架屏 Shimmer · 路由过渡 fade/slide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滚动感知毛玻璃导航 · 按钮微交互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卡片 hover 放大 · fadeInUp 入场动画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通知 Popover · 支付勾选/抖动动画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用户体验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实时聊天 5s 轮询 · 通知 30s 轮询 · 地址选择对话框 · 物流单号可复制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空状态友好引导 · 错误分类提示 · 403 过期自动清除 · 订单状态可视化进度条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37160"/>
            <a:ext cx="137160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AF"/>
                </a:solidFill>
              </a:defRPr>
            </a:pPr>
            <a:r>
              <a:t>14/20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</a:defRPr>
            </a:pPr>
            <a:r>
              <a:t>数据库设计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13 张核心表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user · product · category · product_image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order · order_log · cart · address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message · notification · favorite · review · announcement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ENUM 约束 · 全文索引 · 软删除 · utf8mb4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76F51"/>
                </a:solidFill>
              </a:defRPr>
            </a:pPr>
            <a:r>
              <a:t>订单状态机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待付款 → 待发货 → 待收货 → 已完成 / 已取消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悲观锁 selectForUpdate 防双重出售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order_log 记录每次状态变更操作人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10515600" cy="292608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BBBBB"/>
                </a:solidFill>
              </a:defRPr>
            </a:pPr>
            <a:r>
              <a:t>📷 ER 图或数据库截图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37160"/>
            <a:ext cx="137160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AF"/>
                </a:solidFill>
              </a:defRPr>
            </a:pPr>
            <a:r>
              <a:t>15/20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</a:defRPr>
            </a:pPr>
            <a:r>
              <a:t>技术架构详解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请求链路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浏览器 :3000 → Nginx → /api/* → SpringBoot :8080 → MySQL/Redis → JSON 响应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Vite 开发代理 → 生产 Nginx 反向代理 → Gzip 压缩 → 限流 30r/s → CORS 白名单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关键设计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前后端分离：独立开发/部署，JSON API 通信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JWT 无状态：Access 2h + Refresh 7d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统一封装：Result / PageResult JSON 标准化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全局异常：@RestControllerAdvice 统一处理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MyBatis-Plus：逻辑删除 · 自动填充 · 分页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Redis：验证码 · Token黑名单 · 分类树缓存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Knife4j：自动生成 Swagger API 文档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14 单元测试 · 30+ Postman 接口测试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10515600" cy="137160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257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BBBBB"/>
                </a:solidFill>
              </a:defRPr>
            </a:pPr>
            <a:r>
              <a:t>📷 架构图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37160"/>
            <a:ext cx="137160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AF"/>
                </a:solidFill>
              </a:defRPr>
            </a:pPr>
            <a:r>
              <a:t>16/20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</a:defRPr>
            </a:pPr>
            <a:r>
              <a:t>测试与质量保证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测试覆盖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JUnit 后端单元测试：14 个 · 全部通过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Postman 接口测试：30+ 用例 · 7 大模块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Vitest 前端测试：8 个 · 全部通过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前后端全量联调：逐接口验证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76F51"/>
                </a:solidFill>
              </a:defRPr>
            </a:pPr>
            <a:r>
              <a:t>Bug 修复记录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验证码类型隔离 + 防消费 + 防暴力破解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密码重置 Token 提前删除 Bug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Docker 时区偏移（UTC→Asia/Shanghai）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旧 Token 全站 403 · 卖家浏览量误计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10515600" cy="292608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BBBBB"/>
                </a:solidFill>
              </a:defRPr>
            </a:pPr>
            <a:r>
              <a:t>📷 测试报告或覆盖率截图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37160"/>
            <a:ext cx="137160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AF"/>
                </a:solidFill>
              </a:defRPr>
            </a:pPr>
            <a:r>
              <a:t>17/20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</a:defRPr>
            </a:pPr>
            <a:r>
              <a:t>UI/UX 设计亮点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CSS 设计令牌：15 个变量全局统一品牌色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Element Plus 全组件覆盖：8 类组件统一风格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骨架屏 Shimmer：首页 8 卡片先展示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路由过渡：fade/slide mode=out-in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按钮微交互：hover 上浮 1px + 阴影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滚动导航：backdrop-filter blur(12px)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回到顶部按钮：400px 弹性出现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卡片入场：fadeInUp + animationDelay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743200"/>
            <a:ext cx="5029200" cy="228600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BBBBB"/>
                </a:solidFill>
              </a:defRPr>
            </a:pPr>
            <a:r>
              <a:t>📷 动效录屏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743200"/>
            <a:ext cx="5029200" cy="228600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6118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BBBBB"/>
                </a:solidFill>
              </a:defRPr>
            </a:pPr>
            <a:r>
              <a:t>📷 组件库截图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37160"/>
            <a:ext cx="137160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AF"/>
                </a:solidFill>
              </a:defRPr>
            </a:pPr>
            <a:r>
              <a:t>18/20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</a:defRPr>
            </a:pPr>
            <a:r>
              <a:t>数据与通知流程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消息通知链路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用户发消息 → MessageServiceImpl → 写入 message 表 + 创建 Notification → 对方轮询获取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创建订单 → 通知卖家「有新订单」 → 买家付款 → 通知卖家「请发货」 → 卖家发货 → 通知买家「已发货」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数据流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分类树：MySQL 递归查询 → Redis 缓存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验证码：生成 → Redis(5min) → 校验 → 删除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Token 黑名单：登出 → Redis → 过滤器检查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26080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文件上传：MIME 校验 → 本地存储 → Docker Volume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浏览量：非卖家浏览 → UPDATE view_count+1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定时轮询：消息 5s · 通知 30s · 自动刷新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389120"/>
            <a:ext cx="10515600" cy="164592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BBBBB"/>
                </a:solidFill>
              </a:defRPr>
            </a:pPr>
            <a:r>
              <a:t>📷 数据流图或通知截图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37160"/>
            <a:ext cx="137160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AF"/>
                </a:solidFill>
              </a:defRPr>
            </a:pPr>
            <a:r>
              <a:t>19/20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</a:defRPr>
            </a:pPr>
            <a:r>
              <a:t>项目成果总结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交付成果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前端 18,000+ 行 · 后端 8,000+ 行 · SQL 1,400+ 行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30+ API · 21 页面 · 13 表 · 217 商品数据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Docker 五容器一键部署 + 自动初始化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7 份软件工程文档 · 20 页答辩 PPT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76F51"/>
                </a:solidFill>
              </a:defRPr>
            </a:pPr>
            <a:r>
              <a:t>项目亮点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完整 C2C 闭环（注册→交易→评价）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JWT 双 Token + 三层安全防护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消息通知实时化 + 订单自动通知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Docker 一键部署 + 自动初始化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76F51"/>
                </a:solidFill>
              </a:defRPr>
            </a:pPr>
            <a:r>
              <a:t>项目亮点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Token 队列刷新：多请求 401 只刷一次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验证码三重防护：隔离 + 限频 + 防消费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N+1 查询优化 + 悲观锁防双重出售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CSS 令牌体系 + 骨架屏 + 动效系统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74720"/>
            <a:ext cx="10515600" cy="228600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BBBBB"/>
                </a:solidFill>
              </a:defRPr>
            </a:pPr>
            <a:r>
              <a:t>📷 项目全景截图或架构图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AF"/>
                </a:solidFill>
              </a:defRPr>
            </a:pPr>
            <a:r>
              <a:t>20/20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37160"/>
            <a:ext cx="137160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828800"/>
            <a:ext cx="10360152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感谢聆听</a:t>
            </a:r>
          </a:p>
          <a:p>
            <a:pPr>
              <a:defRPr sz="2000"/>
            </a:pPr>
          </a:p>
          <a:p>
            <a:pPr algn="ctr">
              <a:defRPr sz="2600">
                <a:solidFill>
                  <a:srgbClr val="CCCCCC"/>
                </a:solidFill>
              </a:defRPr>
            </a:pPr>
            <a:r>
              <a:t>转转 — 校园二手物品交易平台</a:t>
            </a:r>
          </a:p>
          <a:p>
            <a:pPr>
              <a:defRPr sz="1400"/>
            </a:pPr>
          </a:p>
          <a:p>
            <a:pPr algn="ctr">
              <a:defRPr sz="1800">
                <a:solidFill>
                  <a:srgbClr val="999999"/>
                </a:solidFill>
              </a:defRPr>
            </a:pPr>
            <a:r>
              <a:t>华中农业大学 · 2026年7月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
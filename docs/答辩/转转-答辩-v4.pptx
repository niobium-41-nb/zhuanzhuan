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08" y="1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4332"/>
              </a:gs>
              <a:gs pos="100000">
                <a:srgbClr val="2D6A4F"/>
              </a:gs>
            </a:gsLst>
            <a:lin ang="1761465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579538" y="-2000250"/>
            <a:ext cx="5715000" cy="571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340947" y="3991627"/>
            <a:ext cx="3810000" cy="381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 rot="900000">
            <a:off x="9747735" y="5972562"/>
            <a:ext cx="3048000" cy="97949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0" y="171450"/>
            <a:ext cx="1333500" cy="381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253076" y="2084070"/>
            <a:ext cx="1685849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spc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转转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04398" y="3155632"/>
            <a:ext cx="27832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spc="4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校园二手物品交易平台</a:t>
            </a:r>
          </a:p>
        </p:txBody>
      </p:sp>
      <p:sp>
        <p:nvSpPr>
          <p:cNvPr id="9" name="Line 9"/>
          <p:cNvSpPr/>
          <p:nvPr/>
        </p:nvSpPr>
        <p:spPr>
          <a:xfrm>
            <a:off x="4381500" y="371475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4288">
            <a:solidFill>
              <a:srgbClr val="FFFF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752870" y="4045268"/>
            <a:ext cx="26862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spc="1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软件工程实训 · 课程设计答辩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59553" y="4736306"/>
            <a:ext cx="48728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张可凡 · 阮崇轩 · 李硕 · 刘轩霆 · 胡欣悦 ｜ 华中农业大学 · 2026年7月</a:t>
            </a:r>
          </a:p>
        </p:txBody>
      </p:sp>
      <p:sp>
        <p:nvSpPr>
          <p:cNvPr id="12" name="Rectangle 12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146768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项目概述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5904" y="708660"/>
            <a:ext cx="55057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校园 C2C 二手交易平台 — 前后端分离 · 完整交易闭环 · Docker 容器化部署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2571750" cy="95250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08987" y="1184910"/>
            <a:ext cx="149677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7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26,000+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4286" y="16568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总代码行数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286125" y="1095375"/>
            <a:ext cx="2571750" cy="952500"/>
          </a:xfrm>
          <a:prstGeom prst="roundRect">
            <a:avLst>
              <a:gd name="adj" fmla="val 8000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243425" y="1184910"/>
            <a:ext cx="65715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7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30+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37127" y="1656874"/>
            <a:ext cx="86974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REST API 端点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000750" y="1095375"/>
            <a:ext cx="2571750" cy="952500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063003" y="1184910"/>
            <a:ext cx="44724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7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19163" y="1656874"/>
            <a:ext cx="5349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前端页面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715375" y="1095375"/>
            <a:ext cx="2571750" cy="9525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672675" y="1184910"/>
            <a:ext cx="65715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7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217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33788" y="1656874"/>
            <a:ext cx="5349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商品数据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2333625"/>
            <a:ext cx="5334000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571500" y="2333625"/>
            <a:ext cx="5334000" cy="438150"/>
          </a:xfrm>
          <a:prstGeom prst="roundRect">
            <a:avLst>
              <a:gd name="adj" fmla="val 21739"/>
            </a:avLst>
          </a:prstGeom>
          <a:solidFill>
            <a:srgbClr val="1B4332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571500" y="2581275"/>
            <a:ext cx="5334000" cy="19050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849994" y="24641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技术架构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0773" y="2910364"/>
            <a:ext cx="3733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前端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22273" y="2910364"/>
            <a:ext cx="408625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Vue 3 + TypeScript + Vite 5 + Element Plus + Pinia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0773" y="3196114"/>
            <a:ext cx="3733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后端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22273" y="3196114"/>
            <a:ext cx="47946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SpringBoot 3.2 + MyBatis-Plus + Security + JWT + Knife4j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0773" y="3481864"/>
            <a:ext cx="3733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数据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22273" y="3481864"/>
            <a:ext cx="514022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MySQL 8.0（13表/全文索引/软删除）+ Redis 7（缓存/黑名单）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0773" y="3767614"/>
            <a:ext cx="3733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部署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22273" y="3767614"/>
            <a:ext cx="343483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Docker Compose 五容器 + Nginx + 健康检查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1916" y="4125278"/>
            <a:ext cx="26468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B788"/>
                </a:solidFill>
                <a:latin typeface="Segoe UI"/>
                <a:ea typeface="Microsoft YaHei"/>
                <a:cs typeface="Segoe UI"/>
              </a:rPr>
              <a:t>docker-compose up -d --build 一键启动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286500" y="2333625"/>
            <a:ext cx="5334000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6286500" y="2333625"/>
            <a:ext cx="5334000" cy="438150"/>
          </a:xfrm>
          <a:prstGeom prst="roundRect">
            <a:avLst>
              <a:gd name="adj" fmla="val 21739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6286500" y="2581275"/>
            <a:ext cx="533400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374170" y="24641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核心功能模块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572250" y="2952750"/>
            <a:ext cx="2286000" cy="5715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391495" y="3193256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用户认证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048750" y="2952750"/>
            <a:ext cx="2286000" cy="5715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867995" y="3193256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商品交易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572250" y="3667125"/>
            <a:ext cx="2286000" cy="57150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391495" y="3907631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订单管理</a:t>
            </a:r>
          </a:p>
        </p:txBody>
      </p:sp>
      <p:sp>
        <p:nvSpPr>
          <p:cNvPr id="42" name="Rectangle 42"/>
          <p:cNvSpPr/>
          <p:nvPr/>
        </p:nvSpPr>
        <p:spPr>
          <a:xfrm>
            <a:off x="9048750" y="3667125"/>
            <a:ext cx="2286000" cy="57150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867995" y="3907631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消息通知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4667250"/>
            <a:ext cx="11049000" cy="523875"/>
          </a:xfrm>
          <a:prstGeom prst="roundRect">
            <a:avLst>
              <a:gd name="adj" fmla="val 14545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2473532" y="4879181"/>
            <a:ext cx="724493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7 天开发周期 · 5 人团队 · 15+ GitHub Commits · 前后端分离架构 · 7 份软件工程文档 · Docker 一键部署</a:t>
            </a:r>
          </a:p>
        </p:txBody>
      </p:sp>
      <p:sp>
        <p:nvSpPr>
          <p:cNvPr id="46" name="Rectangle 46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140001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2 / 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218857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核心交易流程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5904" y="708660"/>
            <a:ext cx="29821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完整 C2C 闭环 — 从浏览到评价的全链路</a:t>
            </a:r>
          </a:p>
        </p:txBody>
      </p:sp>
      <p:sp>
        <p:nvSpPr>
          <p:cNvPr id="7" name="Rectangle 7"/>
          <p:cNvSpPr/>
          <p:nvPr/>
        </p:nvSpPr>
        <p:spPr>
          <a:xfrm>
            <a:off x="381000" y="1190625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E8F5E9"/>
          </a:solidFill>
          <a:ln w="19050">
            <a:solidFill>
              <a:srgbClr val="2D6A4F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71328" y="1338739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浏览商品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0014" y="156972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搜索筛选详情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29231" y="1377315"/>
            <a:ext cx="1582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476500" y="1190625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E8F5E9"/>
          </a:solidFill>
          <a:ln w="19050">
            <a:solidFill>
              <a:srgbClr val="2D6A4F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2966828" y="1338739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联系卖家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04934" y="1569720"/>
            <a:ext cx="85763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站内信实时聊天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24731" y="1377315"/>
            <a:ext cx="1582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572000" y="1190625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FFF3E0"/>
          </a:solidFill>
          <a:ln w="19050">
            <a:solidFill>
              <a:srgbClr val="E76F51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062328" y="1338739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下单支付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67116" y="1569720"/>
            <a:ext cx="92426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选地址+模拟支付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20231" y="1377315"/>
            <a:ext cx="1582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667500" y="1190625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FFF3E0"/>
          </a:solidFill>
          <a:ln w="19050">
            <a:solidFill>
              <a:srgbClr val="E76F51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157828" y="1338739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卖家发货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77671" y="156972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物流录入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15731" y="1377315"/>
            <a:ext cx="15822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763000" y="1190625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FFF3E0"/>
          </a:solidFill>
          <a:ln w="19050">
            <a:solidFill>
              <a:srgbClr val="E76F51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253328" y="1338739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确认收货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373172" y="156972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评价打分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2190750"/>
            <a:ext cx="5334000" cy="21907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71500" y="2190750"/>
            <a:ext cx="5334000" cy="400050"/>
          </a:xfrm>
          <a:prstGeom prst="roundRect">
            <a:avLst>
              <a:gd name="adj" fmla="val 23810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571500" y="2400300"/>
            <a:ext cx="5334000" cy="1905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2781467" y="2310289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购买与支付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1154" y="28232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选择地址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08785" y="2831306"/>
            <a:ext cx="21316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弹出地址选择框，默认地址高亮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1154" y="31089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模拟支付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08785" y="3117056"/>
            <a:ext cx="31918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微信/支付宝/校园卡 → spinner处理 → 成功动画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1154" y="33947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订单状态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08785" y="3402806"/>
            <a:ext cx="313882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可视化进度条：待付款→待发货→待收货→已完成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51154" y="3680460"/>
            <a:ext cx="35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发货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708785" y="3688556"/>
            <a:ext cx="22831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8 家物流公司卡片选择 + 单号录入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51154" y="3966210"/>
            <a:ext cx="35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评价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708785" y="3974306"/>
            <a:ext cx="17165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El-Rate 星级 + 文字评价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286500" y="2190750"/>
            <a:ext cx="5334000" cy="21907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6286500" y="2190750"/>
            <a:ext cx="5334000" cy="400050"/>
          </a:xfrm>
          <a:prstGeom prst="roundRect">
            <a:avLst>
              <a:gd name="adj" fmla="val 23810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6286500" y="2400300"/>
            <a:ext cx="533400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496467" y="2310289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消息与通知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566154" y="28232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实时聊天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519035" y="2831306"/>
            <a:ext cx="20635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双栏布局 · 5s 自动轮询新消息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566154" y="31089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联系卖家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519035" y="3117056"/>
            <a:ext cx="215441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商品详情页绿色按钮 → 一键开聊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566154" y="33947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系统通知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519035" y="3402806"/>
            <a:ext cx="216194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铃铛图标 + Popover + 30s 轮询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566154" y="36804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自动推送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519035" y="3688556"/>
            <a:ext cx="315396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下单→通知卖家/付款→通知发货/发货→通知买家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6154" y="39662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可点击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519035" y="3974306"/>
            <a:ext cx="198024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点击通知直接跳转订单或聊天</a:t>
            </a:r>
          </a:p>
        </p:txBody>
      </p:sp>
      <p:sp>
        <p:nvSpPr>
          <p:cNvPr id="54" name="Rectangle 54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1140001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3 / 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254902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技术架构与安全</a:t>
            </a:r>
          </a:p>
        </p:txBody>
      </p:sp>
      <p:sp>
        <p:nvSpPr>
          <p:cNvPr id="6" name="Rectangle 6"/>
          <p:cNvSpPr/>
          <p:nvPr/>
        </p:nvSpPr>
        <p:spPr>
          <a:xfrm>
            <a:off x="381000" y="904875"/>
            <a:ext cx="361950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2D6A4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381000" y="904875"/>
            <a:ext cx="3619500" cy="419100"/>
          </a:xfrm>
          <a:prstGeom prst="roundRect">
            <a:avLst>
              <a:gd name="adj" fmla="val 22727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381000" y="1133475"/>
            <a:ext cx="3619500" cy="1905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581123" y="1033939"/>
            <a:ext cx="121925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前端 Vue3 SPA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0654" y="1537335"/>
            <a:ext cx="25085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框架</a:t>
            </a:r>
            <a:r>
              <a:rPr lang="en-US" sz="120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 Vue 3 + TypeScript + Vite 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0654" y="1823085"/>
            <a:ext cx="26724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组件</a:t>
            </a:r>
            <a:r>
              <a:rPr lang="en-US" sz="120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 Element Plus + Pinia + Router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654" y="2108835"/>
            <a:ext cx="24791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通信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Axios + Token 自动刷新队列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0654" y="2394585"/>
            <a:ext cx="23710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图表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ECharts 5 + CSS 设计令牌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0654" y="2680335"/>
            <a:ext cx="21959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构建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Vite → Nginx :3000 部署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1416" y="2934652"/>
            <a:ext cx="16644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21 页面 · 18,000+ 行代码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21683" y="1836420"/>
            <a:ext cx="20208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762500" y="904875"/>
            <a:ext cx="361950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762500" y="904875"/>
            <a:ext cx="3619500" cy="419100"/>
          </a:xfrm>
          <a:prstGeom prst="roundRect">
            <a:avLst>
              <a:gd name="adj" fmla="val 22727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4762500" y="1133475"/>
            <a:ext cx="361950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800269" y="1033939"/>
            <a:ext cx="154396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后端 SpringBoot 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42154" y="1537335"/>
            <a:ext cx="28036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框架</a:t>
            </a:r>
            <a:r>
              <a:rPr lang="en-US" sz="120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 SpringBoot 3.2 + MyBatis-Plus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042154" y="1823085"/>
            <a:ext cx="286326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安全</a:t>
            </a:r>
            <a:r>
              <a:rPr lang="en-US" sz="120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 Spring Security + JWT + BCrypt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042154" y="2108835"/>
            <a:ext cx="27614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MySQL 8.0 + Redis 7 + 13 张表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042154" y="2394585"/>
            <a:ext cx="23577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API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RESTful 30+ 端点 + Knife4j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042154" y="2680335"/>
            <a:ext cx="21973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部署</a:t>
            </a:r>
            <a:r>
              <a:rPr lang="en-US" sz="120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 Docker → Tomcat :8080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042916" y="2934652"/>
            <a:ext cx="1586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76F51"/>
                </a:solidFill>
                <a:latin typeface="Segoe UI"/>
                <a:ea typeface="Microsoft YaHei"/>
                <a:cs typeface="Segoe UI"/>
              </a:rPr>
              <a:t>8,000+ 行 · 14 单元测试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55558" y="1836420"/>
            <a:ext cx="20208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dirty="0">
                <a:solidFill>
                  <a:srgbClr val="52B788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048750" y="904875"/>
            <a:ext cx="257175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9048750" y="904875"/>
            <a:ext cx="2571750" cy="419100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9048750" y="1133475"/>
            <a:ext cx="2571750" cy="1905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057814" y="1033939"/>
            <a:ext cx="5536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数据层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28404" y="1537335"/>
            <a:ext cx="8733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MySQL 8.0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329547" y="1799749"/>
            <a:ext cx="11166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InnoDB · 全文索引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328404" y="2108835"/>
            <a:ext cx="559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Redis 7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29547" y="2371249"/>
            <a:ext cx="12311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缓存 · Token 黑名单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28404" y="2680335"/>
            <a:ext cx="5503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Docker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329547" y="2942749"/>
            <a:ext cx="105994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5 容器 · 一键部署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81000" y="3476625"/>
            <a:ext cx="11239500" cy="1524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381000" y="3476625"/>
            <a:ext cx="2095500" cy="1524000"/>
          </a:xfrm>
          <a:prstGeom prst="roundRect">
            <a:avLst>
              <a:gd name="adj" fmla="val 6250"/>
            </a:avLst>
          </a:prstGeom>
          <a:solidFill>
            <a:srgbClr val="1B4332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381000" y="4810125"/>
            <a:ext cx="2095500" cy="19050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209104" y="3838575"/>
            <a:ext cx="43929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安全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72826" y="4172902"/>
            <a:ext cx="911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JWT 双 Token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37462" y="4411028"/>
            <a:ext cx="9825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BCrypt + RBAC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70038" y="464915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验证码隔离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756154" y="3775710"/>
            <a:ext cx="57224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双 Token 机制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— Access Token 2h + Refresh Token 7d，请求队列防并发刷新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756154" y="4061460"/>
            <a:ext cx="55254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三层防护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— 公开接口 / 认证接口 / ROLE_ADMIN 三级权限，CORS 白名单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756154" y="4347210"/>
            <a:ext cx="452734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验证码安全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— 类型隔离（注册/重置互斥）+ 频率限制 + 防消费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756154" y="4632960"/>
            <a:ext cx="52163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数据保护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— BCrypt 密码哈希 · XSS 过滤 · MIME 校验 · 敏感信息脱敏</a:t>
            </a:r>
          </a:p>
        </p:txBody>
      </p:sp>
      <p:sp>
        <p:nvSpPr>
          <p:cNvPr id="49" name="Rectangle 49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1140001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4 / 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2791134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Docker 部署架构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5904" y="708660"/>
            <a:ext cx="36711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docker-compose up -d --build 一键启动五个容器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190625"/>
            <a:ext cx="2000250" cy="1047750"/>
          </a:xfrm>
          <a:prstGeom prst="roundRect">
            <a:avLst>
              <a:gd name="adj" fmla="val 9091"/>
            </a:avLst>
          </a:prstGeom>
          <a:solidFill>
            <a:srgbClr val="FFF3E0"/>
          </a:solidFill>
          <a:ln w="19050">
            <a:solidFill>
              <a:srgbClr val="E76F51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295972" y="1457325"/>
            <a:ext cx="5513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E65100"/>
                </a:solidFill>
                <a:latin typeface="Segoe UI"/>
                <a:ea typeface="Segoe UI"/>
                <a:cs typeface="Segoe UI"/>
              </a:rPr>
              <a:t>Nginx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4041" y="1752124"/>
            <a:ext cx="5751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Vue3 SPA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86197" y="1942624"/>
            <a:ext cx="37085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:3000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952750" y="1190625"/>
            <a:ext cx="2000250" cy="104775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9050">
            <a:solidFill>
              <a:srgbClr val="2D6A4F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382385" y="1457325"/>
            <a:ext cx="114098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SpringBoot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08321" y="1752124"/>
            <a:ext cx="4891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Java 17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67447" y="1942624"/>
            <a:ext cx="37085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:8080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334000" y="1190625"/>
            <a:ext cx="2000250" cy="1047750"/>
          </a:xfrm>
          <a:prstGeom prst="roundRect">
            <a:avLst>
              <a:gd name="adj" fmla="val 9091"/>
            </a:avLst>
          </a:prstGeom>
          <a:solidFill>
            <a:srgbClr val="E3F2FD"/>
          </a:solidFill>
          <a:ln w="19050">
            <a:solidFill>
              <a:srgbClr val="1976D2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977441" y="1457325"/>
            <a:ext cx="71336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1565C0"/>
                </a:solidFill>
                <a:latin typeface="Segoe UI"/>
                <a:ea typeface="Segoe UI"/>
                <a:cs typeface="Segoe UI"/>
              </a:rPr>
              <a:t>MySQL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20887" y="1752124"/>
            <a:ext cx="22647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8.0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48697" y="1942624"/>
            <a:ext cx="37085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:3306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715250" y="1190625"/>
            <a:ext cx="2000250" cy="1047750"/>
          </a:xfrm>
          <a:prstGeom prst="roundRect">
            <a:avLst>
              <a:gd name="adj" fmla="val 9091"/>
            </a:avLst>
          </a:prstGeom>
          <a:solidFill>
            <a:srgbClr val="FCE4EC"/>
          </a:solidFill>
          <a:ln w="19050">
            <a:solidFill>
              <a:srgbClr val="C6282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439722" y="1457325"/>
            <a:ext cx="5513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C62828"/>
                </a:solidFill>
                <a:latin typeface="Segoe UI"/>
                <a:ea typeface="Segoe UI"/>
                <a:cs typeface="Segoe UI"/>
              </a:rPr>
              <a:t>Redis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68623" y="1752124"/>
            <a:ext cx="4935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7 Alpine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29947" y="1942624"/>
            <a:ext cx="37085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:6379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0096500" y="1190625"/>
            <a:ext cx="1524000" cy="104775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9050">
            <a:solidFill>
              <a:srgbClr val="99999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0306462" y="1473518"/>
            <a:ext cx="110407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666666"/>
                </a:solidFill>
                <a:latin typeface="Segoe UI"/>
                <a:ea typeface="Segoe UI"/>
                <a:cs typeface="Segoe UI"/>
              </a:rPr>
              <a:t>phpMyAdmin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91038" y="1752124"/>
            <a:ext cx="5349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管理工具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673072" y="1942624"/>
            <a:ext cx="37085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:3001</a:t>
            </a:r>
          </a:p>
        </p:txBody>
      </p:sp>
      <p:sp>
        <p:nvSpPr>
          <p:cNvPr id="27" name="Line 27"/>
          <p:cNvSpPr/>
          <p:nvPr/>
        </p:nvSpPr>
        <p:spPr>
          <a:xfrm>
            <a:off x="2667000" y="17145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E76F51"/>
            </a:solidFill>
          </a:ln>
        </p:spPr>
      </p:sp>
      <p:sp>
        <p:nvSpPr>
          <p:cNvPr id="28" name="Line 28"/>
          <p:cNvSpPr/>
          <p:nvPr/>
        </p:nvSpPr>
        <p:spPr>
          <a:xfrm>
            <a:off x="5048250" y="17145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2D6A4F"/>
            </a:solidFill>
          </a:ln>
        </p:spPr>
      </p:sp>
      <p:sp>
        <p:nvSpPr>
          <p:cNvPr id="29" name="Line 29"/>
          <p:cNvSpPr/>
          <p:nvPr/>
        </p:nvSpPr>
        <p:spPr>
          <a:xfrm>
            <a:off x="7429500" y="17145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1976D2"/>
            </a:solidFill>
          </a:ln>
        </p:spPr>
      </p:sp>
      <p:sp>
        <p:nvSpPr>
          <p:cNvPr id="30" name="Line 30"/>
          <p:cNvSpPr/>
          <p:nvPr/>
        </p:nvSpPr>
        <p:spPr>
          <a:xfrm>
            <a:off x="9810750" y="171450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9525">
            <a:solidFill>
              <a:srgbClr val="999999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571500" y="2571750"/>
            <a:ext cx="53340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571500" y="2571750"/>
            <a:ext cx="5334000" cy="400050"/>
          </a:xfrm>
          <a:prstGeom prst="roundRect">
            <a:avLst>
              <a:gd name="adj" fmla="val 23810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571500" y="2781300"/>
            <a:ext cx="5334000" cy="1905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2871578" y="2691289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容器特性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1154" y="31089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健康检查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851660" y="3117056"/>
            <a:ext cx="23825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MySQL/Redis healthy 后启动后端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51154" y="341376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数据持久化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51660" y="3421856"/>
            <a:ext cx="37508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mysql_data / redis_data / upload_data 三个 Volume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1154" y="371856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自动初始化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851660" y="3726656"/>
            <a:ext cx="336384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4 个 SQL 脚本按序执行：建库→种子→索引→图片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51154" y="4023360"/>
            <a:ext cx="8355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Nginx 代理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851660" y="4031456"/>
            <a:ext cx="384176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反向代理 /api/* → backend:8080 + Gzip + 限流 + CORS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286500" y="2571750"/>
            <a:ext cx="53340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6286500" y="2571750"/>
            <a:ext cx="5334000" cy="400050"/>
          </a:xfrm>
          <a:prstGeom prst="roundRect">
            <a:avLst>
              <a:gd name="adj" fmla="val 23810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6286500" y="2781300"/>
            <a:ext cx="533400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586578" y="2691289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运维配置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66154" y="3108960"/>
            <a:ext cx="35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时区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233285" y="3117056"/>
            <a:ext cx="21044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TZ=Asia/Shanghai 全容器统一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566154" y="34137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环境分离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233285" y="3421856"/>
            <a:ext cx="204839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dev/prod/test 三套配置文件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566154" y="37185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敏感信息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233285" y="3726656"/>
            <a:ext cx="211347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.env 管理密码/密钥，不入 Git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6154" y="4023360"/>
            <a:ext cx="35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构建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233285" y="4031456"/>
            <a:ext cx="33110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Dockerfile 多阶段构建（Maven编译+JRE运行）</a:t>
            </a:r>
          </a:p>
        </p:txBody>
      </p:sp>
      <p:sp>
        <p:nvSpPr>
          <p:cNvPr id="55" name="Rectangle 55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1140001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5 / 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4459382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全栈开发 / 项目管理 / 测试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714375"/>
            <a:ext cx="1524000" cy="285750"/>
          </a:xfrm>
          <a:prstGeom prst="roundRect">
            <a:avLst>
              <a:gd name="adj" fmla="val 20000"/>
            </a:avLst>
          </a:prstGeom>
          <a:solidFill>
            <a:srgbClr val="1B433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99201" y="801052"/>
            <a:ext cx="10495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张可凡（队长）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190625"/>
            <a:ext cx="5334000" cy="257175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1B433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190625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1B4332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419225"/>
            <a:ext cx="5334000" cy="19050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449755" y="1319689"/>
            <a:ext cx="157749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Docker 容器化部署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1870710"/>
            <a:ext cx="48301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编排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MySQL + Redis + SpringBoot + Nginx + phpMyAdmin 五容器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2175510"/>
            <a:ext cx="437303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代理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Nginx 反向代理 /api/* → backend + Gzip + 限流 30r/s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2480310"/>
            <a:ext cx="45943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健康检查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MySQL/Redis healthy 后才启动后端，保障启动顺序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2785110"/>
            <a:ext cx="4559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持久化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mysql_data / redis_data / upload_data 三个 Volume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1154" y="3089910"/>
            <a:ext cx="37316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时区修复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TZ=Asia/Shanghai 解决 UTC 偏移 8 小时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1154" y="3394710"/>
            <a:ext cx="34450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多环境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dev/prod/test + .env 敏感信息不入库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86500" y="1190625"/>
            <a:ext cx="5334000" cy="257175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1B4332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286500" y="1190625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1B433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6286500" y="1419225"/>
            <a:ext cx="5334000" cy="19050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496467" y="1319689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管理与测试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6154" y="1870710"/>
            <a:ext cx="363885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项目计划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7 天计划 · 80+ 任务分解 · 5 人角色分配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66154" y="2175510"/>
            <a:ext cx="365500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管理后台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5 页面：用户/商品审核/订单/统计/公告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66154" y="2480310"/>
            <a:ext cx="29113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Postman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30+ 接口测试 · 覆盖 7 大模块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66154" y="2785110"/>
            <a:ext cx="25686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JUnit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14 后端单元测试 · 全部通过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66154" y="3089910"/>
            <a:ext cx="494736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文档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7 份软件工程文档（需求·架构·数据库·接口·测试·手册·日报）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66154" y="3394710"/>
            <a:ext cx="32857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版本控制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Git · 15+ commits · 合并冲突解决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4000500"/>
            <a:ext cx="11049000" cy="523875"/>
          </a:xfrm>
          <a:prstGeom prst="roundRect">
            <a:avLst>
              <a:gd name="adj" fmla="val 14545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2310420" y="4212431"/>
            <a:ext cx="757116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贡献统计：Docker 五容器编排 · Nginx 配置 · 管理后台 5 页面 · 30+ Postman 测试 · 7 份文档 · 项目进度管理</a:t>
            </a:r>
          </a:p>
        </p:txBody>
      </p:sp>
      <p:sp>
        <p:nvSpPr>
          <p:cNvPr id="30" name="Rectangle 30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140001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6 / 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146768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前端开发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714375"/>
            <a:ext cx="952500" cy="285750"/>
          </a:xfrm>
          <a:prstGeom prst="roundRect">
            <a:avLst>
              <a:gd name="adj" fmla="val 20000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10288" y="801052"/>
            <a:ext cx="4559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阮崇轩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190625"/>
            <a:ext cx="5334000" cy="2667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190625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419225"/>
            <a:ext cx="5334000" cy="1905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601244" y="1319689"/>
            <a:ext cx="12745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认证与消息系统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1870710"/>
            <a:ext cx="51557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工程搭建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Vue3+TS+Vite · CSS 令牌 15 变量 · Element Plus 全局覆盖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2175510"/>
            <a:ext cx="390046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认证模块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登录·注册·找回密码 · Token 队列自动刷新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2480310"/>
            <a:ext cx="36291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消息系统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双栏聊天·5s轮询·?to=userId 自动开聊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2785110"/>
            <a:ext cx="33716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通知系统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铃铛+Popover+可点击跳转+30s轮询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1154" y="3089910"/>
            <a:ext cx="36873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订单详情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买家卖家双视角 · 发货·收货·评价全流程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1154" y="3394710"/>
            <a:ext cx="39134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后端修复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验证码隔离·防暴力破解·防消费·浏览量修正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86500" y="1190625"/>
            <a:ext cx="5334000" cy="2667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286500" y="1190625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6286500" y="1419225"/>
            <a:ext cx="5334000" cy="1905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456682" y="1319689"/>
            <a:ext cx="99363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UI 动效系统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6154" y="1870710"/>
            <a:ext cx="33965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页面过渡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fade/slide 路由切换 · mode=out-in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66154" y="2175510"/>
            <a:ext cx="2883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骨架屏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Shimmer 1.5s 循环·8 卡片占位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66154" y="2480310"/>
            <a:ext cx="29361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回到顶部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400px 弹性出现·绿色圆形悬浮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66154" y="2785110"/>
            <a:ext cx="34530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导航栏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backdrop-filter blur(12px)+滚动阴影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66154" y="3089910"/>
            <a:ext cx="35580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按钮交互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hover 上浮 1px+阴影·active 下压回弹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66154" y="3394710"/>
            <a:ext cx="38680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动画库</a:t>
            </a:r>
            <a:r>
              <a:rPr lang="en-US" sz="120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 shimmer·shake·pulse·fadeInUp·floatAuth</a:t>
            </a:r>
          </a:p>
        </p:txBody>
      </p:sp>
      <p:sp>
        <p:nvSpPr>
          <p:cNvPr id="28" name="Rectangle 28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140001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7 / 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146768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前端开发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714375"/>
            <a:ext cx="952500" cy="285750"/>
          </a:xfrm>
          <a:prstGeom prst="roundRect">
            <a:avLst>
              <a:gd name="adj" fmla="val 20000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84497" y="80105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李硕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190625"/>
            <a:ext cx="5334000" cy="2667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190625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419225"/>
            <a:ext cx="5334000" cy="1905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601244" y="1319689"/>
            <a:ext cx="12745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商品与交易模块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1870710"/>
            <a:ext cx="38616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首页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Hero·公告轮播·分类Tab·商品网格·时间格式化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2175510"/>
            <a:ext cx="37519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商品模块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列表筛选·详情画廊·发布多图·占位图回退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2480310"/>
            <a:ext cx="35096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购物车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复选框·数量调节·全选·结算栏·防抖同步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2785110"/>
            <a:ext cx="45503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订单列表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6状态Tab·买家卖家视角·订单卡片·statusType复用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1154" y="3089910"/>
            <a:ext cx="35661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种子数据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217商品·20分类·15用户·三版图片方案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86500" y="1190625"/>
            <a:ext cx="5334000" cy="2667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286500" y="1190625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286500" y="1419225"/>
            <a:ext cx="5334000" cy="1905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226133" y="1319689"/>
            <a:ext cx="145473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管理后台与可视化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66154" y="1870710"/>
            <a:ext cx="35537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AdminLayout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侧边栏导航·路由鉴权·响应式折叠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6154" y="2175510"/>
            <a:ext cx="31263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5大管理页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用户·商品审核·订单·统计·公告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66154" y="2480310"/>
            <a:ext cx="29493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ECharts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分类占比饼图·每日趋势折线图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66154" y="2785110"/>
            <a:ext cx="35661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自适应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window resize 同步缩放·dispose 防泄漏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66154" y="3089910"/>
            <a:ext cx="27665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搜索·筛选·分页·状态流转全覆盖</a:t>
            </a:r>
          </a:p>
        </p:txBody>
      </p:sp>
      <p:sp>
        <p:nvSpPr>
          <p:cNvPr id="26" name="Rectangle 26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140001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8 / 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1873019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后端开发 A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714375"/>
            <a:ext cx="952500" cy="285750"/>
          </a:xfrm>
          <a:prstGeom prst="roundRect">
            <a:avLst>
              <a:gd name="adj" fmla="val 20000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10288" y="801052"/>
            <a:ext cx="4559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刘轩霆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190625"/>
            <a:ext cx="5334000" cy="2667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190625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419225"/>
            <a:ext cx="533400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601244" y="1319689"/>
            <a:ext cx="12745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安全与商品模块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1870710"/>
            <a:ext cx="41634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安全框架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SpringSecurity+JWT·双Token·RBAC三级权限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2175510"/>
            <a:ext cx="393355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频率限制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登录10次/15min·验证码3次/5min（Redis）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2480310"/>
            <a:ext cx="32842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商品API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分页+筛选+全文搜索+N+1批量优化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2785110"/>
            <a:ext cx="31784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保护机制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悲观锁·自买自卖校验·浏览量控制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1154" y="3089910"/>
            <a:ext cx="36393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数据库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13张表DDL·ENUM约束·全文索引·软删除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86500" y="1190625"/>
            <a:ext cx="5334000" cy="2667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286500" y="1190625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286500" y="1419225"/>
            <a:ext cx="533400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309103" y="1319689"/>
            <a:ext cx="12887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订单与后台 API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66154" y="1870710"/>
            <a:ext cx="36873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订单状态机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待付款→待发货→待收货→已完成/已取消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6154" y="2175510"/>
            <a:ext cx="30007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订单日志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order_log 每次状态变更全追溯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66154" y="2480310"/>
            <a:ext cx="36853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后台API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用户管理·商品审核·订单管理·数据统计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66154" y="2785110"/>
            <a:ext cx="32430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工程配置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pom·逻辑删除·自动填充·分页插件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66154" y="3089910"/>
            <a:ext cx="31267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文档测试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Knife4j·14单元测试·Result封装</a:t>
            </a:r>
          </a:p>
        </p:txBody>
      </p:sp>
      <p:sp>
        <p:nvSpPr>
          <p:cNvPr id="26" name="Rectangle 26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1400015" y="6626066"/>
            <a:ext cx="3204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9 / 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1873019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后端开发 B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714375"/>
            <a:ext cx="952500" cy="285750"/>
          </a:xfrm>
          <a:prstGeom prst="roundRect">
            <a:avLst>
              <a:gd name="adj" fmla="val 20000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10288" y="801052"/>
            <a:ext cx="4559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胡欣悦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190625"/>
            <a:ext cx="5334000" cy="2667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190625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419225"/>
            <a:ext cx="533400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511133" y="1319689"/>
            <a:ext cx="145473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购物车与消息模块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1870710"/>
            <a:ext cx="29650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购物车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CRUD·去重·数量调整·选中结算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2175510"/>
            <a:ext cx="39700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站内信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发送/接收/会话列表/标记已读/未读计数 5端点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2480310"/>
            <a:ext cx="29926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系统通知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列表/标记已读/未读计数 3端点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2785110"/>
            <a:ext cx="30169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自动联动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发消息+订单状态→自动创建通知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1154" y="3089910"/>
            <a:ext cx="34593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数据统计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首页统计·分类树Redis缓存·后台趋势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86500" y="1190625"/>
            <a:ext cx="5334000" cy="2667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286500" y="1190625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286500" y="1419225"/>
            <a:ext cx="533400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316244" y="1319689"/>
            <a:ext cx="12745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文件与部署运维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66154" y="1870710"/>
            <a:ext cx="39288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文件上传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MIME校验·5MB限制·Docker Volume持久化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6154" y="2175510"/>
            <a:ext cx="39009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Dockerfile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后端多阶段构建（Maven编译+JRE运行）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66154" y="2480310"/>
            <a:ext cx="35166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前端构建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Vue3构建+Nginx部署+nginx.conf配置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66154" y="2785110"/>
            <a:ext cx="39297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初始化脚本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MySQL 4脚本自动建库+种子+索引+图片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66154" y="3089910"/>
            <a:ext cx="29908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phpMyAdmin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数据库可视化管理工具集成</a:t>
            </a:r>
          </a:p>
        </p:txBody>
      </p:sp>
      <p:sp>
        <p:nvSpPr>
          <p:cNvPr id="26" name="Rectangle 26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133893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10 / 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182813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数据库设计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5904" y="708660"/>
            <a:ext cx="46466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13 张表 · InnoDB · utf8mb4 · 全文索引 · 软删除 · ENUM 约束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355406" y="1277302"/>
            <a:ext cx="3371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user</a:t>
            </a:r>
          </a:p>
        </p:txBody>
      </p:sp>
      <p:sp>
        <p:nvSpPr>
          <p:cNvPr id="9" name="Rectangle 9"/>
          <p:cNvSpPr/>
          <p:nvPr/>
        </p:nvSpPr>
        <p:spPr>
          <a:xfrm>
            <a:off x="2571750" y="10953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233210" y="1277302"/>
            <a:ext cx="5820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product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0" y="10953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192645" y="1277302"/>
            <a:ext cx="6637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category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572250" y="10953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992530" y="1277302"/>
            <a:ext cx="10644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product_image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572500" y="10953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315590" y="1277302"/>
            <a:ext cx="4188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65100"/>
                </a:solidFill>
                <a:latin typeface="Segoe UI"/>
                <a:ea typeface="Segoe UI"/>
                <a:cs typeface="Segoe UI"/>
              </a:rPr>
              <a:t>order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16668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69882" y="1848802"/>
            <a:ext cx="7082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65100"/>
                </a:solidFill>
                <a:latin typeface="Segoe UI"/>
                <a:ea typeface="Segoe UI"/>
                <a:cs typeface="Segoe UI"/>
              </a:rPr>
              <a:t>order_log</a:t>
            </a:r>
          </a:p>
        </p:txBody>
      </p:sp>
      <p:sp>
        <p:nvSpPr>
          <p:cNvPr id="19" name="Rectangle 19"/>
          <p:cNvSpPr/>
          <p:nvPr/>
        </p:nvSpPr>
        <p:spPr>
          <a:xfrm>
            <a:off x="2571750" y="16668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3355656" y="1848802"/>
            <a:ext cx="3371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65100"/>
                </a:solidFill>
                <a:latin typeface="Segoe UI"/>
                <a:ea typeface="Segoe UI"/>
                <a:cs typeface="Segoe UI"/>
              </a:rPr>
              <a:t>cart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572000" y="16668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233460" y="1848802"/>
            <a:ext cx="5820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65100"/>
                </a:solidFill>
                <a:latin typeface="Segoe UI"/>
                <a:ea typeface="Segoe UI"/>
                <a:cs typeface="Segoe UI"/>
              </a:rPr>
              <a:t>address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572250" y="16668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218868" y="1848802"/>
            <a:ext cx="61176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565C0"/>
                </a:solidFill>
                <a:latin typeface="Segoe UI"/>
                <a:ea typeface="Segoe UI"/>
                <a:cs typeface="Segoe UI"/>
              </a:rPr>
              <a:t>message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572500" y="16668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085542" y="1848802"/>
            <a:ext cx="87891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565C0"/>
                </a:solidFill>
                <a:latin typeface="Segoe UI"/>
                <a:ea typeface="Segoe UI"/>
                <a:cs typeface="Segoe UI"/>
              </a:rPr>
              <a:t>notification</a:t>
            </a:r>
          </a:p>
        </p:txBody>
      </p:sp>
      <p:sp>
        <p:nvSpPr>
          <p:cNvPr id="27" name="Rectangle 27"/>
          <p:cNvSpPr/>
          <p:nvPr/>
        </p:nvSpPr>
        <p:spPr>
          <a:xfrm>
            <a:off x="1524000" y="22383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FCE4EC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2163198" y="2420302"/>
            <a:ext cx="6266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C62828"/>
                </a:solidFill>
                <a:latin typeface="Segoe UI"/>
                <a:ea typeface="Segoe UI"/>
                <a:cs typeface="Segoe UI"/>
              </a:rPr>
              <a:t>favorite</a:t>
            </a:r>
          </a:p>
        </p:txBody>
      </p:sp>
      <p:sp>
        <p:nvSpPr>
          <p:cNvPr id="29" name="Rectangle 29"/>
          <p:cNvSpPr/>
          <p:nvPr/>
        </p:nvSpPr>
        <p:spPr>
          <a:xfrm>
            <a:off x="3524250" y="22383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FCE4E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230236" y="2420302"/>
            <a:ext cx="4930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C62828"/>
                </a:solidFill>
                <a:latin typeface="Segoe UI"/>
                <a:ea typeface="Segoe UI"/>
                <a:cs typeface="Segoe UI"/>
              </a:rPr>
              <a:t>review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524500" y="2238375"/>
            <a:ext cx="1905000" cy="476250"/>
          </a:xfrm>
          <a:prstGeom prst="roundRect">
            <a:avLst>
              <a:gd name="adj" fmla="val 12000"/>
            </a:avLst>
          </a:prstGeom>
          <a:solidFill>
            <a:srgbClr val="FCE4E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967043" y="2420302"/>
            <a:ext cx="10199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C62828"/>
                </a:solidFill>
                <a:latin typeface="Segoe UI"/>
                <a:ea typeface="Segoe UI"/>
                <a:cs typeface="Segoe UI"/>
              </a:rPr>
              <a:t>announcement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2952750"/>
            <a:ext cx="533400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71500" y="2952750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571500" y="3181350"/>
            <a:ext cx="5334000" cy="1905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2691355" y="3081814"/>
            <a:ext cx="10942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关键设计决策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51154" y="3489960"/>
            <a:ext cx="48182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全文索引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FULLTEXT(title,description) 商品标题+描述全文搜索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51154" y="3775710"/>
            <a:ext cx="323794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软删除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@TableLogic deleted_at 数据可恢复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1154" y="4061460"/>
            <a:ext cx="27414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字符集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utf8mb4 完整支持中文+Emoji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51154" y="4347210"/>
            <a:ext cx="33717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N+1优化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批量加载分类名+卖家信息 1次JOIN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286500" y="2952750"/>
            <a:ext cx="533400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42" name="Rectangle 42"/>
          <p:cNvSpPr/>
          <p:nvPr/>
        </p:nvSpPr>
        <p:spPr>
          <a:xfrm>
            <a:off x="6286500" y="2952750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6286500" y="3181350"/>
            <a:ext cx="533400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496467" y="308181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订单状态机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572250" y="3476625"/>
            <a:ext cx="1143000" cy="381000"/>
          </a:xfrm>
          <a:prstGeom prst="roundRect">
            <a:avLst>
              <a:gd name="adj" fmla="val 15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915788" y="3601402"/>
            <a:ext cx="4559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待付款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851267" y="356901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48" name="Rectangle 48"/>
          <p:cNvSpPr/>
          <p:nvPr/>
        </p:nvSpPr>
        <p:spPr>
          <a:xfrm>
            <a:off x="8096250" y="3476625"/>
            <a:ext cx="1143000" cy="381000"/>
          </a:xfrm>
          <a:prstGeom prst="roundRect">
            <a:avLst>
              <a:gd name="adj" fmla="val 15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439788" y="3601402"/>
            <a:ext cx="4559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待发货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375267" y="356901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51" name="Rectangle 51"/>
          <p:cNvSpPr/>
          <p:nvPr/>
        </p:nvSpPr>
        <p:spPr>
          <a:xfrm>
            <a:off x="9620250" y="3476625"/>
            <a:ext cx="1143000" cy="381000"/>
          </a:xfrm>
          <a:prstGeom prst="roundRect">
            <a:avLst>
              <a:gd name="adj" fmla="val 15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9963788" y="3601402"/>
            <a:ext cx="4559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待收货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136892" y="3997642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→</a:t>
            </a:r>
          </a:p>
        </p:txBody>
      </p:sp>
      <p:sp>
        <p:nvSpPr>
          <p:cNvPr id="54" name="Rectangle 54"/>
          <p:cNvSpPr/>
          <p:nvPr/>
        </p:nvSpPr>
        <p:spPr>
          <a:xfrm>
            <a:off x="8096250" y="4000500"/>
            <a:ext cx="1143000" cy="38100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439788" y="4125278"/>
            <a:ext cx="4559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已完成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565392" y="3997642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99999"/>
                </a:solidFill>
                <a:latin typeface="Segoe UI"/>
                <a:ea typeface="Segoe UI"/>
                <a:cs typeface="Segoe UI"/>
              </a:rPr>
              <a:t>↘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572250" y="4381500"/>
            <a:ext cx="1143000" cy="333375"/>
          </a:xfrm>
          <a:prstGeom prst="roundRect">
            <a:avLst>
              <a:gd name="adj" fmla="val 17143"/>
            </a:avLst>
          </a:prstGeom>
          <a:solidFill>
            <a:srgbClr val="F5F5F5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6941915" y="4495324"/>
            <a:ext cx="4036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99999"/>
                </a:solidFill>
                <a:latin typeface="Segoe UI"/>
                <a:ea typeface="Microsoft YaHei"/>
                <a:cs typeface="Segoe UI"/>
              </a:rPr>
              <a:t>已取消</a:t>
            </a:r>
          </a:p>
        </p:txBody>
      </p:sp>
      <p:sp>
        <p:nvSpPr>
          <p:cNvPr id="59" name="Rectangle 59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1133893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11 / 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182813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测试与质量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352425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2D6A4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952500"/>
            <a:ext cx="3524250" cy="419100"/>
          </a:xfrm>
          <a:prstGeom prst="roundRect">
            <a:avLst>
              <a:gd name="adj" fmla="val 22727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181100"/>
            <a:ext cx="3524250" cy="1905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00518" y="1081564"/>
            <a:ext cx="126621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JUnit 后端测试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1154" y="1537335"/>
            <a:ext cx="18780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14 个测试用例 · 全部通过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535" y="1831181"/>
            <a:ext cx="22120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UserService · AddressService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535" y="2069306"/>
            <a:ext cx="12004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JwtUtil · Result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535" y="2307431"/>
            <a:ext cx="176716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UserController 集成测试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333875" y="952500"/>
            <a:ext cx="352425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333875" y="952500"/>
            <a:ext cx="3524250" cy="419100"/>
          </a:xfrm>
          <a:prstGeom prst="roundRect">
            <a:avLst>
              <a:gd name="adj" fmla="val 22727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4333875" y="1181100"/>
            <a:ext cx="352425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331010" y="1081564"/>
            <a:ext cx="15299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Postman 接口测试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13529" y="1537335"/>
            <a:ext cx="194264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30+ 用例 · 7 大模块全覆盖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3910" y="1831181"/>
            <a:ext cx="16243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用户·商品·订单·购物车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13910" y="2069306"/>
            <a:ext cx="13896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消息·通知·管理后台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096250" y="952500"/>
            <a:ext cx="352425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8096250" y="952500"/>
            <a:ext cx="3524250" cy="419100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8096250" y="1181100"/>
            <a:ext cx="3524250" cy="1905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183332" y="1081564"/>
            <a:ext cx="135008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Vitest 前端测试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75904" y="153733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8 个测试用例 · 全部通过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76285" y="1831181"/>
            <a:ext cx="233614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B7280"/>
                </a:solidFill>
                <a:latin typeface="Segoe UI"/>
                <a:ea typeface="Segoe UI"/>
                <a:cs typeface="Segoe UI"/>
              </a:rPr>
              <a:t>auth·store·components·result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2952750"/>
            <a:ext cx="1104900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571500" y="2952750"/>
            <a:ext cx="11049000" cy="419100"/>
          </a:xfrm>
          <a:prstGeom prst="roundRect">
            <a:avLst>
              <a:gd name="adj" fmla="val 22727"/>
            </a:avLst>
          </a:prstGeom>
          <a:solidFill>
            <a:srgbClr val="1B4332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571500" y="3181350"/>
            <a:ext cx="11049000" cy="19050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543245" y="3081814"/>
            <a:ext cx="11055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Bug 修复记录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1154" y="3537585"/>
            <a:ext cx="63874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严重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验证码类型隔离·密码重置Token提前消费·旧Token全站403·Docker时区偏移8小时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1154" y="3870960"/>
            <a:ext cx="50281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一般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卖家浏览量误计·商品图片多次迭代·物流录入流程·消息实时刷新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51154" y="4204335"/>
            <a:ext cx="58798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优化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N+1查询→批量JOIN·分类树Redis缓存·ECharts dispose防泄漏·骨架屏加载</a:t>
            </a:r>
          </a:p>
        </p:txBody>
      </p:sp>
      <p:sp>
        <p:nvSpPr>
          <p:cNvPr id="34" name="Rectangle 34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133893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12 / 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326991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前端设计与用户体验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52500"/>
            <a:ext cx="352425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952500"/>
            <a:ext cx="3524250" cy="419100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181100"/>
            <a:ext cx="3524250" cy="1905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60637" y="1081564"/>
            <a:ext cx="11459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CSS 设计令牌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1154" y="1537335"/>
            <a:ext cx="15099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15 个 CSS Variables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535" y="1831181"/>
            <a:ext cx="211829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--c-primary:#2D6A4F 森林绿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535" y="2069306"/>
            <a:ext cx="18823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--c-accent:#E76F51 暖橙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535" y="2307431"/>
            <a:ext cx="15794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--c-bg:#FDFBF7 米白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535" y="2545556"/>
            <a:ext cx="16243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8个圆角/阴影/间距变量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333875" y="952500"/>
            <a:ext cx="352425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333875" y="952500"/>
            <a:ext cx="3524250" cy="419100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4333875" y="1181100"/>
            <a:ext cx="3524250" cy="1905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729078" y="10815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动效系统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3529" y="1537335"/>
            <a:ext cx="157555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骨架屏 Shimmer 加载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13529" y="1823085"/>
            <a:ext cx="151455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fade/slide 路由过渡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13529" y="2108835"/>
            <a:ext cx="13965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fadeInUp 卡片入场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13529" y="2394585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滚动感知毛玻璃导航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13529" y="26803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回到顶部弹性按钮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096250" y="952500"/>
            <a:ext cx="352425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52B788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096250" y="952500"/>
            <a:ext cx="3524250" cy="419100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8096250" y="1181100"/>
            <a:ext cx="3524250" cy="190500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491453" y="10815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交互优化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75904" y="1537335"/>
            <a:ext cx="16114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按钮 hover 上浮+阴影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75904" y="1823085"/>
            <a:ext cx="11995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active 下压回弹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5904" y="21088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地址选择对话框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75904" y="2394585"/>
            <a:ext cx="17003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支付 spinner+勾选动画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75904" y="26803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订单状态进度条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3143250"/>
            <a:ext cx="1104900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71500" y="3143250"/>
            <a:ext cx="11049000" cy="419100"/>
          </a:xfrm>
          <a:prstGeom prst="roundRect">
            <a:avLst>
              <a:gd name="adj" fmla="val 22727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571500" y="3371850"/>
            <a:ext cx="1104900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729078" y="327231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实时体验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51154" y="3728085"/>
            <a:ext cx="44788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聊天轮询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每 5 秒自动拉取当前会话新消息，无需手动刷新页面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51154" y="4061460"/>
            <a:ext cx="409925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通知轮询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每 30 秒自动更新未读消息数+通知数+铃铛红点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1154" y="4394835"/>
            <a:ext cx="53308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一键开聊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商品详情页联系卖家 → /message?to=userId 自动打开聊天窗口</a:t>
            </a:r>
          </a:p>
        </p:txBody>
      </p:sp>
      <p:sp>
        <p:nvSpPr>
          <p:cNvPr id="40" name="Rectangle 40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133893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13 / 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290946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数据流与通知链路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5904" y="708660"/>
            <a:ext cx="35823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Segoe UI"/>
                <a:ea typeface="Microsoft YaHei"/>
                <a:cs typeface="Segoe UI"/>
              </a:rPr>
              <a:t>消息·订单·通知三系统联动，自动推送，实时轮询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143000"/>
            <a:ext cx="5334000" cy="2381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B433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143000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1B4332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371600"/>
            <a:ext cx="5334000" cy="190500"/>
          </a:xfrm>
          <a:prstGeom prst="rect">
            <a:avLst/>
          </a:prstGeom>
          <a:solidFill>
            <a:srgbClr val="1B433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691355" y="1272064"/>
            <a:ext cx="10942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消息通知链路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57250" y="1714500"/>
            <a:ext cx="4762500" cy="34290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474580" y="1829752"/>
            <a:ext cx="35278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用户 A 发送消息 → MessageServiceImpl.sendMessage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81664" y="2092642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2D6A4F"/>
                </a:solidFill>
                <a:latin typeface="Segoe UI"/>
                <a:ea typeface="Segoe UI"/>
                <a:cs typeface="Segoe UI"/>
              </a:rPr>
              <a:t>↓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57250" y="2333625"/>
            <a:ext cx="4762500" cy="34290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257266" y="2448878"/>
            <a:ext cx="39624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写入 message 表 + 自动创建 Notification「A 给你发来消息」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81664" y="2711768"/>
            <a:ext cx="1136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↓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57250" y="2952750"/>
            <a:ext cx="4762500" cy="34290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508550" y="3068002"/>
            <a:ext cx="34598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用户 B 前端 5s 轮询拉取新消息 + 30s 轮询拉取新通知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286500" y="1143000"/>
            <a:ext cx="5334000" cy="2381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76F51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6286500" y="1143000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6286500" y="1371600"/>
            <a:ext cx="533400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406355" y="1272064"/>
            <a:ext cx="10942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订单通知链路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572250" y="1714500"/>
            <a:ext cx="4762500" cy="28575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954294" y="1799749"/>
            <a:ext cx="199841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买家下单 → 通知卖家「有新订单」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902979" y="2013585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↓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572250" y="2219325"/>
            <a:ext cx="4762500" cy="285750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757412" y="2304574"/>
            <a:ext cx="23921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买家付款 → 通知卖家「已付款，请发货」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02979" y="2518410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↓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572250" y="2724150"/>
            <a:ext cx="4762500" cy="285750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757412" y="2809399"/>
            <a:ext cx="23921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E65100"/>
                </a:solidFill>
                <a:latin typeface="Segoe UI"/>
                <a:ea typeface="Microsoft YaHei"/>
                <a:cs typeface="Segoe UI"/>
              </a:rPr>
              <a:t>卖家发货 → 通知买家「已发货，请查收」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902979" y="3023235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E76F51"/>
                </a:solidFill>
                <a:latin typeface="Segoe UI"/>
                <a:ea typeface="Segoe UI"/>
                <a:cs typeface="Segoe UI"/>
              </a:rPr>
              <a:t>↓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572250" y="3228975"/>
            <a:ext cx="4762500" cy="285750"/>
          </a:xfrm>
          <a:prstGeom prst="roundRect">
            <a:avLst>
              <a:gd name="adj" fmla="val 20000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954294" y="3314224"/>
            <a:ext cx="199841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买家收货 → 通知卖家「交易完成」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3762375"/>
            <a:ext cx="11049000" cy="1333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571500" y="3762375"/>
            <a:ext cx="11049000" cy="419100"/>
          </a:xfrm>
          <a:prstGeom prst="roundRect">
            <a:avLst>
              <a:gd name="adj" fmla="val 22727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571500" y="3990975"/>
            <a:ext cx="11049000" cy="1905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729078" y="3891439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技术亮点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046223" y="4328160"/>
            <a:ext cx="80995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Token 队列刷新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— 多请求并发 401 只发一次刷新，其余排队 | </a:t>
            </a:r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验证码三重防护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— 类型隔离 + 频率限制 + 防消费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703407" y="4632960"/>
            <a:ext cx="87851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悲观锁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— selectForUpdate 防双重出售 | </a:t>
            </a:r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N+1 优化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— 分类名+卖家信息 1次JOIN | </a:t>
            </a:r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Docker 一键部署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— 五容器自动初始化</a:t>
            </a:r>
          </a:p>
        </p:txBody>
      </p:sp>
      <p:sp>
        <p:nvSpPr>
          <p:cNvPr id="40" name="Rectangle 40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133893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14 / 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0" y="133350"/>
            <a:ext cx="1333500" cy="381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49046" y="296228"/>
            <a:ext cx="218857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项目成果总结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904875"/>
            <a:ext cx="2571750" cy="857250"/>
          </a:xfrm>
          <a:prstGeom prst="roundRect">
            <a:avLst>
              <a:gd name="adj" fmla="val 8889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92141" y="979170"/>
            <a:ext cx="1330467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26,000+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24286" y="1418749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总代码行数</a:t>
            </a:r>
          </a:p>
        </p:txBody>
      </p:sp>
      <p:sp>
        <p:nvSpPr>
          <p:cNvPr id="9" name="Rectangle 9"/>
          <p:cNvSpPr/>
          <p:nvPr/>
        </p:nvSpPr>
        <p:spPr>
          <a:xfrm>
            <a:off x="3286125" y="904875"/>
            <a:ext cx="2571750" cy="857250"/>
          </a:xfrm>
          <a:prstGeom prst="roundRect">
            <a:avLst>
              <a:gd name="adj" fmla="val 8889"/>
            </a:avLst>
          </a:prstGeom>
          <a:solidFill>
            <a:srgbClr val="52B78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279933" y="979170"/>
            <a:ext cx="58413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30+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10482" y="1418749"/>
            <a:ext cx="52303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API 端点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000750" y="904875"/>
            <a:ext cx="2571750" cy="857250"/>
          </a:xfrm>
          <a:prstGeom prst="roundRect">
            <a:avLst>
              <a:gd name="adj" fmla="val 8889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87850" y="979170"/>
            <a:ext cx="39755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19163" y="1418749"/>
            <a:ext cx="5349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前端页面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715375" y="904875"/>
            <a:ext cx="2571750" cy="857250"/>
          </a:xfrm>
          <a:prstGeom prst="roundRect">
            <a:avLst>
              <a:gd name="adj" fmla="val 8889"/>
            </a:avLst>
          </a:prstGeom>
          <a:solidFill>
            <a:srgbClr val="1B433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895766" y="979170"/>
            <a:ext cx="210967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33788" y="1418749"/>
            <a:ext cx="5349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项目文档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2000250"/>
            <a:ext cx="533400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571500" y="2000250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2D6A4F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2228850"/>
            <a:ext cx="5334000" cy="190500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781467" y="212931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技术栈成果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1154" y="2556510"/>
            <a:ext cx="375403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前端</a:t>
            </a:r>
            <a:r>
              <a:rPr lang="en-US" sz="120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 Vue3+TS+Vite5+ElementPlus+Pinia+ECharts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1154" y="2842260"/>
            <a:ext cx="43732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后端</a:t>
            </a:r>
            <a:r>
              <a:rPr lang="en-US" sz="1200" dirty="0">
                <a:solidFill>
                  <a:srgbClr val="1F2937"/>
                </a:solidFill>
                <a:latin typeface="Segoe UI"/>
                <a:ea typeface="Segoe UI"/>
                <a:cs typeface="Segoe UI"/>
              </a:rPr>
              <a:t> SpringBoot3.2+MyBatisPlus+Security+JWT+Knife4j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1154" y="3128010"/>
            <a:ext cx="36833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数据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MySQL8.0(13表)+Redis7+全文索引+软删除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1154" y="3413760"/>
            <a:ext cx="36704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部署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Docker Compose 五容器+一键启动+健康检查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1154" y="3699510"/>
            <a:ext cx="41278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安全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JWT双Token+BCrypt+RBAC+验证码隔离+频率限制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1154" y="3985260"/>
            <a:ext cx="33982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测试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JUnit14+Postman30++Vitest8 全部通过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286500" y="2000250"/>
            <a:ext cx="533400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286500" y="2000250"/>
            <a:ext cx="5334000" cy="419100"/>
          </a:xfrm>
          <a:prstGeom prst="roundRect">
            <a:avLst>
              <a:gd name="adj" fmla="val 22727"/>
            </a:avLst>
          </a:prstGeom>
          <a:solidFill>
            <a:srgbClr val="E76F51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6286500" y="2228850"/>
            <a:ext cx="5334000" cy="190500"/>
          </a:xfrm>
          <a:prstGeom prst="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586578" y="212931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项目亮点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66154" y="2556510"/>
            <a:ext cx="40289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完整C2C闭环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浏览→沟通→下单→支付→发货→收货→评价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66154" y="2842260"/>
            <a:ext cx="36227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实时消息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5s轮询聊天+30s轮询通知+订单自动推送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66154" y="3128010"/>
            <a:ext cx="36038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UI动效系统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骨架屏+过渡动画+微交互+令牌体系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66154" y="3413760"/>
            <a:ext cx="335615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安全多层防护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三级权限+验证码隔离+频率限制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66154" y="3699510"/>
            <a:ext cx="30966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Docker化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五容器一键部署+自动初始4脚本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66154" y="3985260"/>
            <a:ext cx="26493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完整文档</a:t>
            </a:r>
            <a:r>
              <a:rPr lang="zh-CN" sz="1200" dirty="0">
                <a:solidFill>
                  <a:srgbClr val="1F2937"/>
                </a:solidFill>
                <a:latin typeface="Segoe UI"/>
                <a:ea typeface="Microsoft YaHei"/>
                <a:cs typeface="Segoe UI"/>
              </a:rPr>
              <a:t> 7份SE文档+16页答辩PPT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524375"/>
            <a:ext cx="11049000" cy="523875"/>
          </a:xfrm>
          <a:prstGeom prst="roundRect">
            <a:avLst>
              <a:gd name="adj" fmla="val 14545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15828" y="4736306"/>
            <a:ext cx="57603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2D6A4F"/>
                </a:solidFill>
                <a:latin typeface="Segoe UI"/>
                <a:ea typeface="Microsoft YaHei"/>
                <a:cs typeface="Segoe UI"/>
              </a:rPr>
              <a:t>7天·5人·15+Commits·前后端0阻塞·Docker一键部署·217件种子数据·22页答辩PPT</a:t>
            </a:r>
          </a:p>
        </p:txBody>
      </p:sp>
      <p:sp>
        <p:nvSpPr>
          <p:cNvPr id="40" name="Rectangle 40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2D6A4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1338931" y="6626066"/>
            <a:ext cx="3815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9CA3AF"/>
                </a:solidFill>
                <a:latin typeface="Segoe UI"/>
                <a:ea typeface="Segoe UI"/>
                <a:cs typeface="Segoe UI"/>
              </a:rPr>
              <a:t>15 / 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4332"/>
              </a:gs>
              <a:gs pos="100000">
                <a:srgbClr val="2D6A4F"/>
              </a:gs>
            </a:gsLst>
            <a:lin ang="1761465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967243" y="-1595561"/>
            <a:ext cx="5715000" cy="5715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Ellipse 4"/>
          <p:cNvSpPr/>
          <p:nvPr/>
        </p:nvSpPr>
        <p:spPr>
          <a:xfrm>
            <a:off x="173622" y="3862864"/>
            <a:ext cx="3810000" cy="381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0" y="171450"/>
            <a:ext cx="1333500" cy="381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538243" y="1958340"/>
            <a:ext cx="3115513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spc="9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感谢聆听</a:t>
            </a:r>
          </a:p>
        </p:txBody>
      </p:sp>
      <p:sp>
        <p:nvSpPr>
          <p:cNvPr id="7" name="Line 7"/>
          <p:cNvSpPr/>
          <p:nvPr/>
        </p:nvSpPr>
        <p:spPr>
          <a:xfrm>
            <a:off x="4381500" y="285750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4288">
            <a:solidFill>
              <a:srgbClr val="FFFFFF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627159" y="3250882"/>
            <a:ext cx="2937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转转 — 校园二手物品交易平台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60987" y="3862864"/>
            <a:ext cx="227002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软件工程实训 · 课程设计答辩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59553" y="4641056"/>
            <a:ext cx="48728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张可凡 · 阮崇轩 · 李硕 · 刘轩霆 · 胡欣悦 ｜ 华中农业大学 · 2026年7月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2406</Words>
  <Application>Microsoft Office PowerPoint</Application>
  <PresentationFormat>宽屏</PresentationFormat>
  <Paragraphs>341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Arial</vt:lpstr>
      <vt:lpstr>Calibri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Armand Anderson</cp:lastModifiedBy>
  <cp:revision>3</cp:revision>
  <dcterms:created xsi:type="dcterms:W3CDTF">2026-07-09T07:05:18Z</dcterms:created>
  <dcterms:modified xsi:type="dcterms:W3CDTF">2026-07-09T07:07:50Z</dcterms:modified>
  <cp:category/>
  <cp:contentStatus/>
  <dc:language/>
</cp:coreProperties>
</file>
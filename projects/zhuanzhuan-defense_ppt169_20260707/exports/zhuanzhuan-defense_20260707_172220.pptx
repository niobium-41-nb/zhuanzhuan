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3974893c315aea4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3974893c315aea4.png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3974893c315aea4.png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3974893c315aea4.png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3974893c315aea4.png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3974893c315aea4.png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3974893c315aea4.png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3974893c315aea4.png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3974893c315aea4.png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3974893c315aea4.png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3974893c315aea4.png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3974893c315aea4.png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3974893c315aea4.png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3974893c315aea4.png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3974893c315aea4.png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4332"/>
              </a:gs>
              <a:gs pos="50000">
                <a:srgbClr val="2D6A4F"/>
              </a:gs>
              <a:gs pos="100000">
                <a:srgbClr val="40916C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-952500"/>
            <a:ext cx="3810000" cy="381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0" y="381000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2857500" y="476250"/>
            <a:ext cx="5715000" cy="5715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190500"/>
            <a:ext cx="1333500" cy="3810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495392" y="2055495"/>
            <a:ext cx="1201217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900" b="1" spc="4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转转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840700" y="2869882"/>
            <a:ext cx="251060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spc="225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校园二手物品交易平台</a:t>
            </a:r>
          </a:p>
        </p:txBody>
      </p:sp>
      <p:sp>
        <p:nvSpPr>
          <p:cNvPr id="9" name="Line 9"/>
          <p:cNvSpPr/>
          <p:nvPr/>
        </p:nvSpPr>
        <p:spPr>
          <a:xfrm>
            <a:off x="5143500" y="3333750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4894221" y="3664268"/>
            <a:ext cx="240355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软件工程实训 · 课程设计答辩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264457" y="4347210"/>
            <a:ext cx="366308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张可凡（队长） · 阮崇轩 · 李硕 · 刘轩霆 · 胡欣悦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91349" y="4744402"/>
            <a:ext cx="80930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2026 年 7 月</a:t>
            </a:r>
          </a:p>
        </p:txBody>
      </p:sp>
      <p:sp>
        <p:nvSpPr>
          <p:cNvPr id="13" name="Rectangle 13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133350"/>
            <a:ext cx="1238250" cy="352425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2282" y="287655"/>
            <a:ext cx="120868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项目概述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5142" y="902018"/>
            <a:ext cx="88196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▎项目背景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6285" y="1212056"/>
            <a:ext cx="4476274" cy="7153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950"/>
              </a:lnSpc>
            </a:pPr>
            <a:r>
              <a:rPr lang="zh-CN" sz="112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校园内闲置物品交易需求旺盛，但缺乏安全便捷的校内 C2C 交易平台。</a:t>
            </a:r>
            <a:r>
              <a:rPr lang="zh-CN" sz="112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本项目「转转」旨在为高校师生提供一个可信赖的二手物品交易平台，</a:t>
            </a:r>
            <a:r>
              <a:rPr lang="zh-CN" sz="112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涵盖商品发布、浏览搜索、在线沟通、订单交易全流程。</a:t>
            </a:r>
          </a:p>
        </p:txBody>
      </p:sp>
      <p:sp>
        <p:nvSpPr>
          <p:cNvPr id="9" name="Rectangle 9"/>
          <p:cNvSpPr/>
          <p:nvPr/>
        </p:nvSpPr>
        <p:spPr>
          <a:xfrm>
            <a:off x="6667500" y="904875"/>
            <a:ext cx="4762500" cy="19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6947154" y="106108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项目概况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947916" y="141065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开发周期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67166" y="1410652"/>
            <a:ext cx="16877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2026.7.4 — 7.10（7天）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947916" y="169640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团队规模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67166" y="1696402"/>
            <a:ext cx="2852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5 人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47916" y="198215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前端代码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567166" y="1982152"/>
            <a:ext cx="7750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18,000+ 行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947916" y="226790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后端代码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567166" y="2267902"/>
            <a:ext cx="69339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8,000+ 行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47916" y="2553652"/>
            <a:ext cx="56327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API 接口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567166" y="2553652"/>
            <a:ext cx="44850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30+ 个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5142" y="1759268"/>
            <a:ext cx="88196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▎技术架构</a:t>
            </a:r>
          </a:p>
        </p:txBody>
      </p:sp>
      <p:sp>
        <p:nvSpPr>
          <p:cNvPr id="22" name="Rectangle 22"/>
          <p:cNvSpPr/>
          <p:nvPr/>
        </p:nvSpPr>
        <p:spPr>
          <a:xfrm>
            <a:off x="762000" y="2095500"/>
            <a:ext cx="26670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52B788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1930765" y="2259806"/>
            <a:ext cx="32947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前端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72523" y="2550795"/>
            <a:ext cx="144595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Vue3 + TypeScript + Vite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12190" y="2741295"/>
            <a:ext cx="116662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Element Plus + Pinia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629966" y="2931795"/>
            <a:ext cx="93106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Axios + ECharts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708854" y="3197066"/>
            <a:ext cx="77329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52B788"/>
                </a:solidFill>
                <a:latin typeface="Segoe UI"/>
                <a:ea typeface="Microsoft YaHei"/>
                <a:cs typeface="Segoe UI"/>
              </a:rPr>
              <a:t>Nginx 反向代理</a:t>
            </a:r>
          </a:p>
        </p:txBody>
      </p:sp>
      <p:sp>
        <p:nvSpPr>
          <p:cNvPr id="28" name="Rectangle 28"/>
          <p:cNvSpPr/>
          <p:nvPr/>
        </p:nvSpPr>
        <p:spPr>
          <a:xfrm>
            <a:off x="3619500" y="2095500"/>
            <a:ext cx="26670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2D6A4F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4788265" y="2259806"/>
            <a:ext cx="32947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后端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048794" y="2550795"/>
            <a:ext cx="180841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SpringBoot 3.2 + MyBatis-Plus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301568" y="2741295"/>
            <a:ext cx="130286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Spring Security + JWT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50220" y="2931795"/>
            <a:ext cx="120556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MySQL 8.0 + Redis 7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529819" y="3197066"/>
            <a:ext cx="84636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52B788"/>
                </a:solidFill>
                <a:latin typeface="Segoe UI"/>
                <a:ea typeface="Microsoft YaHei"/>
                <a:cs typeface="Segoe UI"/>
              </a:rPr>
              <a:t>Knife4j API 文档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563493" y="2631758"/>
            <a:ext cx="1389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2D6A4F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35" name="Rectangle 35"/>
          <p:cNvSpPr/>
          <p:nvPr/>
        </p:nvSpPr>
        <p:spPr>
          <a:xfrm>
            <a:off x="6477000" y="2095500"/>
            <a:ext cx="15240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E76F51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7074265" y="2259806"/>
            <a:ext cx="32947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部署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766772" y="2550795"/>
            <a:ext cx="94445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Docker Compose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940429" y="2741295"/>
            <a:ext cx="59714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4 容器编排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796640" y="2931795"/>
            <a:ext cx="88472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Nginx + Tomcat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55142" y="3664268"/>
            <a:ext cx="12636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▎核心功能模块</a:t>
            </a:r>
          </a:p>
        </p:txBody>
      </p:sp>
      <p:sp>
        <p:nvSpPr>
          <p:cNvPr id="41" name="Rectangle 41"/>
          <p:cNvSpPr/>
          <p:nvPr/>
        </p:nvSpPr>
        <p:spPr>
          <a:xfrm>
            <a:off x="762000" y="4000500"/>
            <a:ext cx="2000250" cy="476250"/>
          </a:xfrm>
          <a:prstGeom prst="roundRect">
            <a:avLst>
              <a:gd name="adj" fmla="val 120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1414015" y="4172902"/>
            <a:ext cx="69622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📱 用户认证</a:t>
            </a:r>
          </a:p>
        </p:txBody>
      </p:sp>
      <p:sp>
        <p:nvSpPr>
          <p:cNvPr id="43" name="Rectangle 43"/>
          <p:cNvSpPr/>
          <p:nvPr/>
        </p:nvSpPr>
        <p:spPr>
          <a:xfrm>
            <a:off x="2952750" y="4000500"/>
            <a:ext cx="2000250" cy="476250"/>
          </a:xfrm>
          <a:prstGeom prst="roundRect">
            <a:avLst>
              <a:gd name="adj" fmla="val 120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3604765" y="4172902"/>
            <a:ext cx="69622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🛒 商品交易</a:t>
            </a:r>
          </a:p>
        </p:txBody>
      </p:sp>
      <p:sp>
        <p:nvSpPr>
          <p:cNvPr id="45" name="Rectangle 45"/>
          <p:cNvSpPr/>
          <p:nvPr/>
        </p:nvSpPr>
        <p:spPr>
          <a:xfrm>
            <a:off x="5143500" y="4000500"/>
            <a:ext cx="2000250" cy="476250"/>
          </a:xfrm>
          <a:prstGeom prst="roundRect">
            <a:avLst>
              <a:gd name="adj" fmla="val 120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5795515" y="4172902"/>
            <a:ext cx="69622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💬 消息通知</a:t>
            </a:r>
          </a:p>
        </p:txBody>
      </p:sp>
      <p:sp>
        <p:nvSpPr>
          <p:cNvPr id="47" name="Rectangle 47"/>
          <p:cNvSpPr/>
          <p:nvPr/>
        </p:nvSpPr>
        <p:spPr>
          <a:xfrm>
            <a:off x="7334250" y="4000500"/>
            <a:ext cx="2000250" cy="476250"/>
          </a:xfrm>
          <a:prstGeom prst="roundRect">
            <a:avLst>
              <a:gd name="adj" fmla="val 120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7986265" y="4172902"/>
            <a:ext cx="69622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📦 订单管理</a:t>
            </a:r>
          </a:p>
        </p:txBody>
      </p:sp>
      <p:sp>
        <p:nvSpPr>
          <p:cNvPr id="49" name="Rectangle 49"/>
          <p:cNvSpPr/>
          <p:nvPr/>
        </p:nvSpPr>
        <p:spPr>
          <a:xfrm>
            <a:off x="762000" y="4619625"/>
            <a:ext cx="2000250" cy="476250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1414015" y="4792028"/>
            <a:ext cx="69622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🔍 搜索筛选</a:t>
            </a:r>
          </a:p>
        </p:txBody>
      </p:sp>
      <p:sp>
        <p:nvSpPr>
          <p:cNvPr id="51" name="Rectangle 51"/>
          <p:cNvSpPr/>
          <p:nvPr/>
        </p:nvSpPr>
        <p:spPr>
          <a:xfrm>
            <a:off x="2952750" y="4619625"/>
            <a:ext cx="2000250" cy="476250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3604765" y="4792028"/>
            <a:ext cx="69622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⭐ 收藏关注</a:t>
            </a:r>
          </a:p>
        </p:txBody>
      </p:sp>
      <p:sp>
        <p:nvSpPr>
          <p:cNvPr id="53" name="Rectangle 53"/>
          <p:cNvSpPr/>
          <p:nvPr/>
        </p:nvSpPr>
        <p:spPr>
          <a:xfrm>
            <a:off x="5143500" y="4619625"/>
            <a:ext cx="2000250" cy="476250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5756643" y="4792028"/>
            <a:ext cx="77396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🛡️ 后台管理</a:t>
            </a:r>
          </a:p>
        </p:txBody>
      </p:sp>
      <p:sp>
        <p:nvSpPr>
          <p:cNvPr id="55" name="Rectangle 55"/>
          <p:cNvSpPr/>
          <p:nvPr/>
        </p:nvSpPr>
        <p:spPr>
          <a:xfrm>
            <a:off x="7334250" y="4619625"/>
            <a:ext cx="2000250" cy="476250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7986265" y="4792028"/>
            <a:ext cx="69622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📊 数据统计</a:t>
            </a:r>
          </a:p>
        </p:txBody>
      </p:sp>
      <p:sp>
        <p:nvSpPr>
          <p:cNvPr id="57" name="Rectangle 57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11495265" y="6626066"/>
            <a:ext cx="3204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2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133350"/>
            <a:ext cx="1238250" cy="352425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2282" y="287655"/>
            <a:ext cx="120868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团队分工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857250"/>
            <a:ext cx="2190750" cy="27622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2D6A4F"/>
            </a:solidFill>
          </a:ln>
        </p:spPr>
      </p:sp>
      <p:sp>
        <p:nvSpPr>
          <p:cNvPr id="8" name="Ellipse 8"/>
          <p:cNvSpPr/>
          <p:nvPr/>
        </p:nvSpPr>
        <p:spPr>
          <a:xfrm>
            <a:off x="1362075" y="1028700"/>
            <a:ext cx="609600" cy="6096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541878" y="1222058"/>
            <a:ext cx="24999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张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67105" y="1727835"/>
            <a:ext cx="119954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张可凡（队长）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62000" y="1981200"/>
            <a:ext cx="1809750" cy="22860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061547" y="2054066"/>
            <a:ext cx="12106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全栈 / 项目管理 / 测试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7238" y="2379345"/>
            <a:ext cx="106131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Docker 容器化部署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7238" y="2588895"/>
            <a:ext cx="97878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管理后台前端开发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7238" y="2798445"/>
            <a:ext cx="102937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Postman 接口测试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7238" y="3007995"/>
            <a:ext cx="96061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7 份项目文档撰写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7238" y="3217545"/>
            <a:ext cx="7364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项目进度管理</a:t>
            </a:r>
          </a:p>
        </p:txBody>
      </p:sp>
      <p:sp>
        <p:nvSpPr>
          <p:cNvPr id="18" name="Rectangle 18"/>
          <p:cNvSpPr/>
          <p:nvPr/>
        </p:nvSpPr>
        <p:spPr>
          <a:xfrm>
            <a:off x="2952750" y="857250"/>
            <a:ext cx="2190750" cy="27622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52B788"/>
            </a:solidFill>
          </a:ln>
        </p:spPr>
      </p:sp>
      <p:sp>
        <p:nvSpPr>
          <p:cNvPr id="19" name="Ellipse 19"/>
          <p:cNvSpPr/>
          <p:nvPr/>
        </p:nvSpPr>
        <p:spPr>
          <a:xfrm>
            <a:off x="3743325" y="1028700"/>
            <a:ext cx="609600" cy="609600"/>
          </a:xfrm>
          <a:prstGeom prst="ellipse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3923128" y="1222058"/>
            <a:ext cx="24999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阮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787597" y="1727835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阮崇轩</a:t>
            </a:r>
          </a:p>
        </p:txBody>
      </p:sp>
      <p:sp>
        <p:nvSpPr>
          <p:cNvPr id="22" name="Rectangle 22"/>
          <p:cNvSpPr/>
          <p:nvPr/>
        </p:nvSpPr>
        <p:spPr>
          <a:xfrm>
            <a:off x="3143250" y="1981200"/>
            <a:ext cx="1809750" cy="22860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3810133" y="2054066"/>
            <a:ext cx="47598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52B788"/>
                </a:solidFill>
                <a:latin typeface="Segoe UI"/>
                <a:ea typeface="Microsoft YaHei"/>
                <a:cs typeface="Segoe UI"/>
              </a:rPr>
              <a:t>前端开发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138488" y="2379345"/>
            <a:ext cx="1058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Vue3 前端工程搭建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138488" y="2588895"/>
            <a:ext cx="111206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登录/注册/找回密码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138488" y="2798445"/>
            <a:ext cx="7364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消息通知系统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138488" y="3007995"/>
            <a:ext cx="85763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订单详情与操作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138488" y="3217545"/>
            <a:ext cx="105285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UI 动效与交互优化</a:t>
            </a:r>
          </a:p>
        </p:txBody>
      </p:sp>
      <p:sp>
        <p:nvSpPr>
          <p:cNvPr id="29" name="Rectangle 29"/>
          <p:cNvSpPr/>
          <p:nvPr/>
        </p:nvSpPr>
        <p:spPr>
          <a:xfrm>
            <a:off x="5334000" y="857250"/>
            <a:ext cx="2190750" cy="27622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52B788"/>
            </a:solidFill>
          </a:ln>
        </p:spPr>
      </p:sp>
      <p:sp>
        <p:nvSpPr>
          <p:cNvPr id="30" name="Ellipse 30"/>
          <p:cNvSpPr/>
          <p:nvPr/>
        </p:nvSpPr>
        <p:spPr>
          <a:xfrm>
            <a:off x="6124575" y="1028700"/>
            <a:ext cx="609600" cy="609600"/>
          </a:xfrm>
          <a:prstGeom prst="ellipse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6304378" y="1222058"/>
            <a:ext cx="24999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李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253658" y="1727835"/>
            <a:ext cx="35143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李硕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524500" y="1981200"/>
            <a:ext cx="1809750" cy="22860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191383" y="2054066"/>
            <a:ext cx="47598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52B788"/>
                </a:solidFill>
                <a:latin typeface="Segoe UI"/>
                <a:ea typeface="Microsoft YaHei"/>
                <a:cs typeface="Segoe UI"/>
              </a:rPr>
              <a:t>前端开发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519738" y="2379345"/>
            <a:ext cx="85763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首页与商品模块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519738" y="2588895"/>
            <a:ext cx="97878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购物车与订单列表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519738" y="2798445"/>
            <a:ext cx="96061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5 个管理后台页面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519738" y="3007995"/>
            <a:ext cx="113604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ECharts 数据可视化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519738" y="3217545"/>
            <a:ext cx="8515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217 件种子数据</a:t>
            </a:r>
          </a:p>
        </p:txBody>
      </p:sp>
      <p:sp>
        <p:nvSpPr>
          <p:cNvPr id="40" name="Rectangle 40"/>
          <p:cNvSpPr/>
          <p:nvPr/>
        </p:nvSpPr>
        <p:spPr>
          <a:xfrm>
            <a:off x="7715250" y="857250"/>
            <a:ext cx="2000250" cy="276225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E76F51"/>
            </a:solidFill>
          </a:ln>
        </p:spPr>
      </p:sp>
      <p:sp>
        <p:nvSpPr>
          <p:cNvPr id="41" name="Ellipse 41"/>
          <p:cNvSpPr/>
          <p:nvPr/>
        </p:nvSpPr>
        <p:spPr>
          <a:xfrm>
            <a:off x="8410575" y="1028700"/>
            <a:ext cx="609600" cy="60960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8590378" y="1222058"/>
            <a:ext cx="24999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刘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454847" y="1727835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刘轩霆</a:t>
            </a:r>
          </a:p>
        </p:txBody>
      </p:sp>
      <p:sp>
        <p:nvSpPr>
          <p:cNvPr id="44" name="Rectangle 44"/>
          <p:cNvSpPr/>
          <p:nvPr/>
        </p:nvSpPr>
        <p:spPr>
          <a:xfrm>
            <a:off x="7905750" y="1981200"/>
            <a:ext cx="1619250" cy="228600"/>
          </a:xfrm>
          <a:prstGeom prst="roundRect">
            <a:avLst>
              <a:gd name="adj" fmla="val 16667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8411815" y="2054066"/>
            <a:ext cx="60712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后端开发 A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900988" y="2379345"/>
            <a:ext cx="73921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用户模块 API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900988" y="2588895"/>
            <a:ext cx="73921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商品模块 API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900988" y="2798445"/>
            <a:ext cx="130286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Spring Security + JWT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900988" y="3007995"/>
            <a:ext cx="7364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订单核心流程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900988" y="3217545"/>
            <a:ext cx="73921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后台管理 API</a:t>
            </a:r>
          </a:p>
        </p:txBody>
      </p:sp>
      <p:sp>
        <p:nvSpPr>
          <p:cNvPr id="51" name="Rectangle 51"/>
          <p:cNvSpPr/>
          <p:nvPr/>
        </p:nvSpPr>
        <p:spPr>
          <a:xfrm>
            <a:off x="9906000" y="857250"/>
            <a:ext cx="2000250" cy="276225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E76F51"/>
            </a:solidFill>
          </a:ln>
        </p:spPr>
      </p:sp>
      <p:sp>
        <p:nvSpPr>
          <p:cNvPr id="52" name="Ellipse 52"/>
          <p:cNvSpPr/>
          <p:nvPr/>
        </p:nvSpPr>
        <p:spPr>
          <a:xfrm>
            <a:off x="10601325" y="1028700"/>
            <a:ext cx="609600" cy="60960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10781128" y="1222058"/>
            <a:ext cx="24999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胡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0645597" y="1727835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胡欣悦</a:t>
            </a:r>
          </a:p>
        </p:txBody>
      </p:sp>
      <p:sp>
        <p:nvSpPr>
          <p:cNvPr id="55" name="Rectangle 55"/>
          <p:cNvSpPr/>
          <p:nvPr/>
        </p:nvSpPr>
        <p:spPr>
          <a:xfrm>
            <a:off x="10096500" y="1981200"/>
            <a:ext cx="1619250" cy="228600"/>
          </a:xfrm>
          <a:prstGeom prst="roundRect">
            <a:avLst>
              <a:gd name="adj" fmla="val 16667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10602565" y="2054066"/>
            <a:ext cx="60712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后端开发 B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0091738" y="2379345"/>
            <a:ext cx="61531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购物车模块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0091738" y="2588895"/>
            <a:ext cx="7364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消息通知模块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0091738" y="2798445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数据统计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0091738" y="3007995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文件上传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0091738" y="3217545"/>
            <a:ext cx="93901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Docker 部署运维</a:t>
            </a:r>
          </a:p>
        </p:txBody>
      </p:sp>
      <p:sp>
        <p:nvSpPr>
          <p:cNvPr id="62" name="Rectangle 62"/>
          <p:cNvSpPr/>
          <p:nvPr/>
        </p:nvSpPr>
        <p:spPr>
          <a:xfrm>
            <a:off x="571500" y="3857625"/>
            <a:ext cx="1133475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852297" y="4047649"/>
            <a:ext cx="5349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技术栈：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614297" y="4047649"/>
            <a:ext cx="31882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2D6A4F"/>
                </a:solidFill>
                <a:latin typeface="Segoe UI"/>
                <a:ea typeface="Segoe UI"/>
                <a:cs typeface="Segoe UI"/>
              </a:rPr>
              <a:t>Vue3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2138362" y="4088130"/>
            <a:ext cx="33757" cy="1190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|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2328672" y="4047649"/>
            <a:ext cx="74163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2D6A4F"/>
                </a:solidFill>
                <a:latin typeface="Segoe UI"/>
                <a:ea typeface="Segoe UI"/>
                <a:cs typeface="Segoe UI"/>
              </a:rPr>
              <a:t>TypeScript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3138488" y="4088130"/>
            <a:ext cx="33757" cy="1190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|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3328797" y="4047649"/>
            <a:ext cx="85228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2D6A4F"/>
                </a:solidFill>
                <a:latin typeface="Segoe UI"/>
                <a:ea typeface="Segoe UI"/>
                <a:cs typeface="Segoe UI"/>
              </a:rPr>
              <a:t>Element Plus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4233862" y="4088130"/>
            <a:ext cx="33757" cy="1190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|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4424172" y="4047649"/>
            <a:ext cx="86010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52B788"/>
                </a:solidFill>
                <a:latin typeface="Segoe UI"/>
                <a:ea typeface="Segoe UI"/>
                <a:cs typeface="Segoe UI"/>
              </a:rPr>
              <a:t>SpringBoot 3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5424488" y="4088130"/>
            <a:ext cx="33757" cy="1190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|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5614797" y="4047649"/>
            <a:ext cx="89155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52B788"/>
                </a:solidFill>
                <a:latin typeface="Segoe UI"/>
                <a:ea typeface="Segoe UI"/>
                <a:cs typeface="Segoe UI"/>
              </a:rPr>
              <a:t>MyBatis-Plus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6567488" y="4088130"/>
            <a:ext cx="33757" cy="1190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|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6757797" y="4047649"/>
            <a:ext cx="46368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E76F51"/>
                </a:solidFill>
                <a:latin typeface="Segoe UI"/>
                <a:ea typeface="Segoe UI"/>
                <a:cs typeface="Segoe UI"/>
              </a:rPr>
              <a:t>MySQL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7281862" y="4088130"/>
            <a:ext cx="33757" cy="1190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|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7472172" y="4047649"/>
            <a:ext cx="35835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E76F51"/>
                </a:solidFill>
                <a:latin typeface="Segoe UI"/>
                <a:ea typeface="Segoe UI"/>
                <a:cs typeface="Segoe UI"/>
              </a:rPr>
              <a:t>Redis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7948612" y="4088130"/>
            <a:ext cx="33757" cy="1190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|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8138922" y="4047649"/>
            <a:ext cx="27930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E76F51"/>
                </a:solidFill>
                <a:latin typeface="Segoe UI"/>
                <a:ea typeface="Segoe UI"/>
                <a:cs typeface="Segoe UI"/>
              </a:rPr>
              <a:t>JWT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8520112" y="4088130"/>
            <a:ext cx="33757" cy="1190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|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8710422" y="4047649"/>
            <a:ext cx="46899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E76F51"/>
                </a:solidFill>
                <a:latin typeface="Segoe UI"/>
                <a:ea typeface="Segoe UI"/>
                <a:cs typeface="Segoe UI"/>
              </a:rPr>
              <a:t>Docker</a:t>
            </a:r>
          </a:p>
        </p:txBody>
      </p:sp>
      <p:sp>
        <p:nvSpPr>
          <p:cNvPr id="81" name="Rectangle 81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82" name="TextBox 82"/>
          <p:cNvSpPr txBox="1"/>
          <p:nvPr/>
        </p:nvSpPr>
        <p:spPr>
          <a:xfrm>
            <a:off x="11495265" y="6626066"/>
            <a:ext cx="3204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3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133350"/>
            <a:ext cx="1238250" cy="352425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2282" y="287655"/>
            <a:ext cx="490430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张可凡 — 全栈开发 / 项目管理 / 测试</a:t>
            </a:r>
          </a:p>
        </p:txBody>
      </p:sp>
      <p:sp>
        <p:nvSpPr>
          <p:cNvPr id="7" name="Ellipse 7"/>
          <p:cNvSpPr/>
          <p:nvPr/>
        </p:nvSpPr>
        <p:spPr>
          <a:xfrm>
            <a:off x="609600" y="800100"/>
            <a:ext cx="685800" cy="6858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16140" y="1024890"/>
            <a:ext cx="2727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张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68755" y="981075"/>
            <a:ext cx="14994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张可凡（队长）</a:t>
            </a:r>
          </a:p>
        </p:txBody>
      </p:sp>
      <p:sp>
        <p:nvSpPr>
          <p:cNvPr id="10" name="Rectangle 10"/>
          <p:cNvSpPr/>
          <p:nvPr/>
        </p:nvSpPr>
        <p:spPr>
          <a:xfrm>
            <a:off x="1476375" y="1285875"/>
            <a:ext cx="1905000" cy="209550"/>
          </a:xfrm>
          <a:prstGeom prst="roundRect">
            <a:avLst>
              <a:gd name="adj" fmla="val 18182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06933" y="1349216"/>
            <a:ext cx="144388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全栈开发 / 项目管理 / 测试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5142" y="1759268"/>
            <a:ext cx="167028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Docker 容器化部署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62000" y="2047875"/>
            <a:ext cx="523875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947547" y="2209324"/>
            <a:ext cx="469469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docker-compose.yml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编排 MySQL + Redis + SpringBoot + Nginx 四容器架构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7547" y="2447449"/>
            <a:ext cx="339763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容器健康检查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MySQL/Redis 健康检查，按依赖顺序启动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7547" y="2685574"/>
            <a:ext cx="393828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数据卷持久化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MySQL、Redis、文件上传数据独立 Docker Volume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7547" y="2923699"/>
            <a:ext cx="413861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Nginx 反向代理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API 代理转发 + CORS 处理 + Gzip 压缩 + 限流 30r/s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7547" y="3161824"/>
            <a:ext cx="479456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中文编码修复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排查三道防线：JDBC URL 编码 + MySQL 字符集 + Nginx charset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7547" y="3399949"/>
            <a:ext cx="345750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时区修复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Docker 容器 TZ Asia/Shanghai 解决 8 小时偏移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7547" y="3638074"/>
            <a:ext cx="39247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多阶段 Dockerfile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Maven 编译层 + JRE 运行层，镜像体积最小化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7547" y="3876199"/>
            <a:ext cx="331095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一键部署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docker-compose up -d --build 启动全部服务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470142" y="1759268"/>
            <a:ext cx="154030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管理后台前端开发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477000" y="2047875"/>
            <a:ext cx="514350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6662547" y="2209324"/>
            <a:ext cx="304656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AdminLayout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侧边栏导航 + 路由鉴权 + 响应式折叠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62547" y="2447449"/>
            <a:ext cx="300618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AdminUsers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用户列表、状态启用/禁用、角色分配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62547" y="2685574"/>
            <a:ext cx="322782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AdminProducts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商品审核/驳回、违规下架、编辑弹窗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62547" y="2923699"/>
            <a:ext cx="338603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AdminOrders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订单状态筛选、标记付款/发货/完成/取消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662547" y="3161824"/>
            <a:ext cx="28458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AdminStats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ECharts 饼图 + 折线图数据可视化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62547" y="3399949"/>
            <a:ext cx="262920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AdminAnnouncements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系统公告 CRUD 管理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62547" y="3638074"/>
            <a:ext cx="265853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Postman 接口测试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30+ 接口系统性测试验证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55142" y="4378642"/>
            <a:ext cx="189333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项目文档撰写（7 份）</a:t>
            </a:r>
          </a:p>
        </p:txBody>
      </p:sp>
      <p:sp>
        <p:nvSpPr>
          <p:cNvPr id="32" name="Rectangle 32"/>
          <p:cNvSpPr/>
          <p:nvPr/>
        </p:nvSpPr>
        <p:spPr>
          <a:xfrm>
            <a:off x="762000" y="4667250"/>
            <a:ext cx="10858500" cy="428625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42416" y="4830128"/>
            <a:ext cx="727610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需求规格说明书 | 架构设计说明书 | 数据库设计说明书 | 接口设计说明书 | 测试报告 | 用户使用说明书 | 团队工作日报</a:t>
            </a:r>
          </a:p>
        </p:txBody>
      </p:sp>
      <p:sp>
        <p:nvSpPr>
          <p:cNvPr id="34" name="Rectangle 34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1495265" y="6626066"/>
            <a:ext cx="3204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4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133350"/>
            <a:ext cx="1238250" cy="352425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2282" y="287655"/>
            <a:ext cx="333107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张可凡 — 项目管理与测试</a:t>
            </a:r>
          </a:p>
        </p:txBody>
      </p:sp>
      <p:sp>
        <p:nvSpPr>
          <p:cNvPr id="7" name="Ellipse 7"/>
          <p:cNvSpPr/>
          <p:nvPr/>
        </p:nvSpPr>
        <p:spPr>
          <a:xfrm>
            <a:off x="609600" y="800100"/>
            <a:ext cx="685800" cy="6858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16140" y="1024890"/>
            <a:ext cx="2727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张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68755" y="981075"/>
            <a:ext cx="14994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张可凡（队长）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5142" y="175926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项目管理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62000" y="2047875"/>
            <a:ext cx="523875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947166" y="2220278"/>
            <a:ext cx="296490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项目计划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制定 7 天开发计划，分解 80+ 任务项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7166" y="2477452"/>
            <a:ext cx="316986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角色分配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2 前端 + 2 后端 + 1 全栈的项目组织结构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7166" y="2734628"/>
            <a:ext cx="280235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每日站会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沟通进度，协调前后端接口 30+ 个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7166" y="2991802"/>
            <a:ext cx="344361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版本控制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Git 分支管理，15+ commits，解决合并冲突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7166" y="3248978"/>
            <a:ext cx="477419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多环境配置</a:t>
            </a:r>
            <a:r>
              <a:rPr lang="en-US" sz="1050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 xml:space="preserve"> .env / application-{dev,prod}.yml / settings-docker.xml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7166" y="3506152"/>
            <a:ext cx="400956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README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18KB 项目文档，含环境配置 + 部署指南 + 故障排查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5142" y="3997642"/>
            <a:ext cx="134948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测试与质量保证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62000" y="4286250"/>
            <a:ext cx="523875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947166" y="4458652"/>
            <a:ext cx="428085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Postman 接口测试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覆盖注册/登录/商品/订单/消息/管理 7 大模块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7166" y="4715828"/>
            <a:ext cx="287856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JUnit 单元测试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14 个后端测试用例全部通过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7166" y="4973002"/>
            <a:ext cx="33394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前后端联调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逐接口验证数据格式、状态码、异常处理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7166" y="5230178"/>
            <a:ext cx="462091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Bug 定位与修复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发现中文乱码、时区偏移、JWT Token 过期等关键问题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70142" y="175926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核心贡献总结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477000" y="2047875"/>
            <a:ext cx="5143500" cy="3571875"/>
          </a:xfrm>
          <a:prstGeom prst="roundRect">
            <a:avLst>
              <a:gd name="adj" fmla="val 2133"/>
            </a:avLst>
          </a:prstGeom>
          <a:solidFill>
            <a:srgbClr val="FFF8F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6757416" y="2315528"/>
            <a:ext cx="114929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Docker 部署架构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757797" y="2542699"/>
            <a:ext cx="321907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4 容器编排 + 健康检查 + 数据卷 + 网络隔离 + 一键启动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757416" y="2887028"/>
            <a:ext cx="90117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完整文档体系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757797" y="3114199"/>
            <a:ext cx="309438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7 份软件工程文档，覆盖需求→设计→测试→使用全流程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757416" y="3458528"/>
            <a:ext cx="10495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管理后台全功能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757797" y="3685699"/>
            <a:ext cx="289750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5 个管理页面 + 搜索筛选分页 + 7 种状态流转操作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757416" y="4030028"/>
            <a:ext cx="604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测试覆盖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757797" y="4257199"/>
            <a:ext cx="302489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Postman 30+ 接口测试 + JUnit 14 单元测试全通过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757416" y="4601528"/>
            <a:ext cx="604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团队协调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757797" y="4828699"/>
            <a:ext cx="252343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5 人团队 7 天高效协作，前后端 0 阻塞交付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757416" y="5173028"/>
            <a:ext cx="604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代码统计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757797" y="5400199"/>
            <a:ext cx="325511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前端 18,000+ 行 / 后端 8,000+ 行 / SQL 1,400+ 行</a:t>
            </a:r>
          </a:p>
        </p:txBody>
      </p:sp>
      <p:sp>
        <p:nvSpPr>
          <p:cNvPr id="38" name="Rectangle 38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11495265" y="6626066"/>
            <a:ext cx="3204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5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133350"/>
            <a:ext cx="1238250" cy="352425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52B788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2282" y="287655"/>
            <a:ext cx="244055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阮崇轩 — 前端开发</a:t>
            </a:r>
          </a:p>
        </p:txBody>
      </p:sp>
      <p:sp>
        <p:nvSpPr>
          <p:cNvPr id="7" name="Ellipse 7"/>
          <p:cNvSpPr/>
          <p:nvPr/>
        </p:nvSpPr>
        <p:spPr>
          <a:xfrm>
            <a:off x="609600" y="800100"/>
            <a:ext cx="685800" cy="685800"/>
          </a:xfrm>
          <a:prstGeom prst="ellipse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16140" y="1024890"/>
            <a:ext cx="2727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阮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68755" y="981075"/>
            <a:ext cx="6513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阮崇轩</a:t>
            </a:r>
          </a:p>
        </p:txBody>
      </p:sp>
      <p:sp>
        <p:nvSpPr>
          <p:cNvPr id="10" name="Rectangle 10"/>
          <p:cNvSpPr/>
          <p:nvPr/>
        </p:nvSpPr>
        <p:spPr>
          <a:xfrm>
            <a:off x="1476375" y="1285875"/>
            <a:ext cx="1714500" cy="209550"/>
          </a:xfrm>
          <a:prstGeom prst="roundRect">
            <a:avLst>
              <a:gd name="adj" fmla="val 18182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920711" y="1349216"/>
            <a:ext cx="82582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52B788"/>
                </a:solidFill>
                <a:latin typeface="Segoe UI"/>
                <a:ea typeface="Microsoft YaHei"/>
                <a:cs typeface="Segoe UI"/>
              </a:rPr>
              <a:t>前端开发工程师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5142" y="1759268"/>
            <a:ext cx="211277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52B788"/>
                </a:solidFill>
                <a:latin typeface="Segoe UI"/>
                <a:ea typeface="Microsoft YaHei"/>
                <a:cs typeface="Segoe UI"/>
              </a:rPr>
              <a:t>前端工程搭建与用户认证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62000" y="2047875"/>
            <a:ext cx="5238750" cy="2286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947547" y="2209324"/>
            <a:ext cx="491628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Vue3 + TS + Vite 工程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项目初始化，配置 Element Plus 按需导入、Pinia、Router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7547" y="2447449"/>
            <a:ext cx="469349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CSS 设计令牌体系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CSS Variables 全局主题变量，覆盖 Element Plus 默认风格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7547" y="2685574"/>
            <a:ext cx="417723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登录页面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渐变背景 + 浮动几何图形动画，支持用户名/邮箱/手机号登录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7547" y="2923699"/>
            <a:ext cx="39344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注册页面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邮箱验证码注册，60 秒倒计时防重复点击，前端格式校验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7547" y="3161824"/>
            <a:ext cx="465631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找回密码（原创）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两步流程设计（邮箱验证 → 新密码），密码强度+一致性校验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7547" y="3399949"/>
            <a:ext cx="407043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Axios 封装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Token 自动注入 + 401 刷新队列机制 + 403 自动清除登录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7547" y="3638074"/>
            <a:ext cx="39344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安全修复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验证码类型隔离（注册/重置互斥）+ 防暴力破解频率限制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7547" y="3876199"/>
            <a:ext cx="398296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修复关键 Bug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密码重置验证码被提前消费、旧 Token 导致全站 403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470142" y="175926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52B788"/>
                </a:solidFill>
                <a:latin typeface="Segoe UI"/>
                <a:ea typeface="Microsoft YaHei"/>
                <a:cs typeface="Segoe UI"/>
              </a:rPr>
              <a:t>消息通知系统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477000" y="2047875"/>
            <a:ext cx="5143500" cy="2286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6662547" y="2209324"/>
            <a:ext cx="379659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消息页完整重写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双栏布局（340px 会话列表 + 自适应聊天面板）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62547" y="2447449"/>
            <a:ext cx="391472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聊天气泡设计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我方绿色圆角右对齐、对方灰色圆角左对齐 + 时间戳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62547" y="2685574"/>
            <a:ext cx="432295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URL 参数自动开聊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?to=userId 自动打开指定用户会话，支持发起新对话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62547" y="2923699"/>
            <a:ext cx="350783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商品页联系卖家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卖家卡片新增绿色按钮，点击直达聊天窗口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662547" y="3161824"/>
            <a:ext cx="263762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30 秒轮询刷新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未读消息数和通知数自动更新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62547" y="3399949"/>
            <a:ext cx="331840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通知铃铛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Bell 图标 + Popover 下拉面板 + 点击标记已读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62547" y="3638074"/>
            <a:ext cx="371128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后端通知触发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发消息 / 下单 / 付款 / 发货 / 收货自动创建通知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55142" y="4521518"/>
            <a:ext cx="173113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52B788"/>
                </a:solidFill>
                <a:latin typeface="Segoe UI"/>
                <a:ea typeface="Microsoft YaHei"/>
                <a:cs typeface="Segoe UI"/>
              </a:rPr>
              <a:t>订单详情页全面重写</a:t>
            </a:r>
          </a:p>
        </p:txBody>
      </p:sp>
      <p:sp>
        <p:nvSpPr>
          <p:cNvPr id="32" name="Rectangle 32"/>
          <p:cNvSpPr/>
          <p:nvPr/>
        </p:nvSpPr>
        <p:spPr>
          <a:xfrm>
            <a:off x="762000" y="4810125"/>
            <a:ext cx="1085850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42416" y="4934902"/>
            <a:ext cx="80394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买家-卖家双视角操作判断 | 待付款→支付/取消 | 待发货→卖家录入物流 | 待收货→确认收货 | 已完成→星级评价 | 订单时间线可视化</a:t>
            </a:r>
          </a:p>
        </p:txBody>
      </p:sp>
      <p:sp>
        <p:nvSpPr>
          <p:cNvPr id="34" name="Rectangle 34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1495265" y="6626066"/>
            <a:ext cx="3204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6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133350"/>
            <a:ext cx="1238250" cy="352425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52B788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2282" y="287655"/>
            <a:ext cx="387909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阮崇轩 — UI 动效与交互优化</a:t>
            </a:r>
          </a:p>
        </p:txBody>
      </p:sp>
      <p:sp>
        <p:nvSpPr>
          <p:cNvPr id="7" name="Ellipse 7"/>
          <p:cNvSpPr/>
          <p:nvPr/>
        </p:nvSpPr>
        <p:spPr>
          <a:xfrm>
            <a:off x="609600" y="800100"/>
            <a:ext cx="685800" cy="685800"/>
          </a:xfrm>
          <a:prstGeom prst="ellipse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16140" y="1024890"/>
            <a:ext cx="2727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阮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68755" y="981075"/>
            <a:ext cx="6513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阮崇轩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5142" y="1759268"/>
            <a:ext cx="105208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52B788"/>
                </a:solidFill>
                <a:latin typeface="Segoe UI"/>
                <a:ea typeface="Microsoft YaHei"/>
                <a:cs typeface="Segoe UI"/>
              </a:rPr>
              <a:t>UI 动效优化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62000" y="2047875"/>
            <a:ext cx="523875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947547" y="2209324"/>
            <a:ext cx="384253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页面过渡动画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fade/slide 路由切换动画，mode=out-in 平滑过渡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7547" y="2447449"/>
            <a:ext cx="394097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回到顶部按钮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滚动 400px 出现，弹性缩放动画，绿色圆形悬浮按钮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7547" y="2685574"/>
            <a:ext cx="39793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骨架屏加载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Shimmer 动画占位卡片，首页商品列表 8 个骨架先展示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7547" y="2923699"/>
            <a:ext cx="377292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商品卡片交错入场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fadeInUp + animationDelay 瀑布流动画效果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7547" y="3161824"/>
            <a:ext cx="324532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导航栏滚动感知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scroll&gt;10px 时毛玻璃模糊 + 底部阴影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7547" y="3399949"/>
            <a:ext cx="457100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全局按钮微交互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hover 上浮 1px + 阴影 / active 下压回弹 / 平滑 transition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7547" y="3638074"/>
            <a:ext cx="430140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CSS 动画库</a:t>
            </a:r>
            <a:r>
              <a:rPr lang="en-US" sz="980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 xml:space="preserve"> shimmer / shake / pulse / fadeInUp / floatAuth / cardIn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7547" y="3876199"/>
            <a:ext cx="377158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Element Plus 全局覆盖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按钮/标签/分页/输入框/卡片统一样式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70142" y="1759268"/>
            <a:ext cx="161771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52B788"/>
                </a:solidFill>
                <a:latin typeface="Segoe UI"/>
                <a:ea typeface="Microsoft YaHei"/>
                <a:cs typeface="Segoe UI"/>
              </a:rPr>
              <a:t>后端 Bug 修复贡献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477000" y="2047875"/>
            <a:ext cx="514350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662547" y="2209324"/>
            <a:ext cx="487383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验证码类型隔离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Redis Key 加 type 前缀 (captcha:register:/captcha:reset:)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62547" y="2447449"/>
            <a:ext cx="350127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验证码防消费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校验失败不删除验证码，避免用户重试时出错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62547" y="2685574"/>
            <a:ext cx="340939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密码重置频率限制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5次/15分钟防暴力破解，邮箱格式校验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62547" y="2923699"/>
            <a:ext cx="284500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重复密码检查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重置密码时检查新旧密码是否相同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62547" y="3161824"/>
            <a:ext cx="308126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卖家浏览不计入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仅非卖家浏览时才增加 view_count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62547" y="3399949"/>
            <a:ext cx="368943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OrderVO 字段补充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添加 buyerId/sellerId 支持前端角色判断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662547" y="3638074"/>
            <a:ext cx="287641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消息→通知联动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sendMessage 自动创建系统通知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62547" y="3876199"/>
            <a:ext cx="366239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订单→通知联动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下单/付款/发货/收货各环节自动通知买卖双方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55142" y="437864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技术亮点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62000" y="4667250"/>
            <a:ext cx="10858500" cy="523875"/>
          </a:xfrm>
          <a:prstGeom prst="roundRect">
            <a:avLst>
              <a:gd name="adj" fmla="val 14545"/>
            </a:avLst>
          </a:prstGeom>
          <a:solidFill>
            <a:srgbClr val="FFF8F0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042416" y="4792028"/>
            <a:ext cx="1115186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Token 队列刷新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多请求并发 401 只刷新一次，其余排队等待 | </a:t>
            </a:r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CSS 设计令牌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全局品牌色统一管理 | </a:t>
            </a:r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骨架屏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提升感知性能 | </a:t>
            </a:r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验证码三段式安全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类型隔离 + 频率限制 + 防消费</a:t>
            </a:r>
          </a:p>
        </p:txBody>
      </p:sp>
      <p:sp>
        <p:nvSpPr>
          <p:cNvPr id="33" name="Rectangle 33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11495265" y="6626066"/>
            <a:ext cx="3204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7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133350"/>
            <a:ext cx="1238250" cy="352425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52B788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2282" y="287655"/>
            <a:ext cx="214372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李硕 — 前端开发</a:t>
            </a:r>
          </a:p>
        </p:txBody>
      </p:sp>
      <p:sp>
        <p:nvSpPr>
          <p:cNvPr id="7" name="Ellipse 7"/>
          <p:cNvSpPr/>
          <p:nvPr/>
        </p:nvSpPr>
        <p:spPr>
          <a:xfrm>
            <a:off x="609600" y="800100"/>
            <a:ext cx="685800" cy="685800"/>
          </a:xfrm>
          <a:prstGeom prst="ellipse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16140" y="1024890"/>
            <a:ext cx="2727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李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68755" y="98107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李硕</a:t>
            </a:r>
          </a:p>
        </p:txBody>
      </p:sp>
      <p:sp>
        <p:nvSpPr>
          <p:cNvPr id="10" name="Rectangle 10"/>
          <p:cNvSpPr/>
          <p:nvPr/>
        </p:nvSpPr>
        <p:spPr>
          <a:xfrm>
            <a:off x="1476375" y="1285875"/>
            <a:ext cx="1714500" cy="209550"/>
          </a:xfrm>
          <a:prstGeom prst="roundRect">
            <a:avLst>
              <a:gd name="adj" fmla="val 18182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920711" y="1349216"/>
            <a:ext cx="82582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52B788"/>
                </a:solidFill>
                <a:latin typeface="Segoe UI"/>
                <a:ea typeface="Microsoft YaHei"/>
                <a:cs typeface="Segoe UI"/>
              </a:rPr>
              <a:t>前端开发工程师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5142" y="1759268"/>
            <a:ext cx="134948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52B788"/>
                </a:solidFill>
                <a:latin typeface="Segoe UI"/>
                <a:ea typeface="Microsoft YaHei"/>
                <a:cs typeface="Segoe UI"/>
              </a:rPr>
              <a:t>首页与商品模块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62000" y="2047875"/>
            <a:ext cx="5238750" cy="2524125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947547" y="2209324"/>
            <a:ext cx="338096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Hero 横幅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渐变绿色背景 + 品牌标语 + 实时统计数据展示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7547" y="2447449"/>
            <a:ext cx="314589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公告栏滚动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CSS Animation 水平轮播，鼠标悬停暂停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7547" y="2685574"/>
            <a:ext cx="34907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商品分类导航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8 个分类 Tab（Emoji 图标），点击切换加载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7547" y="2923699"/>
            <a:ext cx="400015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商品网格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响应式 Grid 布局 (minmax 240px)，卡片 hover 放大效果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7547" y="3161824"/>
            <a:ext cx="360182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相对时间格式化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刚刚 / X分钟前 / X小时前 / X天前 / 日期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7547" y="3399949"/>
            <a:ext cx="452407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商品列表页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多条件筛选（关键词/分类/价格/成色/排序）+ URL 参数同步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7547" y="3638074"/>
            <a:ext cx="414268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商品详情页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图片画廊（主图+缩略图）、成色标签、HTML 安全过滤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7547" y="3876199"/>
            <a:ext cx="371128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商品发布页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分类级联选择、多图上传 picture-card、表单校验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7547" y="4114324"/>
            <a:ext cx="408523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封面图回退机制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getCategoryCover 函数，加载失败返回 Emoji 占位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0142" y="1759268"/>
            <a:ext cx="154030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52B788"/>
                </a:solidFill>
                <a:latin typeface="Segoe UI"/>
                <a:ea typeface="Microsoft YaHei"/>
                <a:cs typeface="Segoe UI"/>
              </a:rPr>
              <a:t>购物车与订单列表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477000" y="2047875"/>
            <a:ext cx="5143500" cy="2524125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6662547" y="2209324"/>
            <a:ext cx="336345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购物车页面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复选框选择 + 数量调节 + 全选/取消 + 结算栏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62547" y="2447449"/>
            <a:ext cx="323876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数量防抖同步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修改数量后防抖提交后端，避免频繁请求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62547" y="2685574"/>
            <a:ext cx="231342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空状态引导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购物车为空时展示友好提示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662547" y="2923699"/>
            <a:ext cx="299210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订单列表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6 个状态 Tab 切换 + 买家/卖家视角切换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62547" y="3161824"/>
            <a:ext cx="317313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订单卡片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订单号 + 商品标题 + 价格 + 状态标签 + 时间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62547" y="3399949"/>
            <a:ext cx="365963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状态映射函数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statusType() 在 4 个页面复用，避免重复代码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55142" y="4807268"/>
            <a:ext cx="173113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52B788"/>
                </a:solidFill>
                <a:latin typeface="Segoe UI"/>
                <a:ea typeface="Microsoft YaHei"/>
                <a:cs typeface="Segoe UI"/>
              </a:rPr>
              <a:t>种子数据与图片优化</a:t>
            </a:r>
          </a:p>
        </p:txBody>
      </p:sp>
      <p:sp>
        <p:nvSpPr>
          <p:cNvPr id="32" name="Rectangle 32"/>
          <p:cNvSpPr/>
          <p:nvPr/>
        </p:nvSpPr>
        <p:spPr>
          <a:xfrm>
            <a:off x="762000" y="5095875"/>
            <a:ext cx="1085850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42416" y="5220652"/>
            <a:ext cx="977744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编写 15 个用户 + 217 件商品种子 SQL（20 个分类） | 三版图片方案迭代：LoremFlickr → Picsum.photos 随机 → 按分类种子前缀 | Pravatar 个性化头像</a:t>
            </a:r>
          </a:p>
        </p:txBody>
      </p:sp>
      <p:sp>
        <p:nvSpPr>
          <p:cNvPr id="34" name="Rectangle 34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1495265" y="6626066"/>
            <a:ext cx="3204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8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133350"/>
            <a:ext cx="1238250" cy="352425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52B788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2282" y="287655"/>
            <a:ext cx="392474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李硕 — 管理后台与数据可视化</a:t>
            </a:r>
          </a:p>
        </p:txBody>
      </p:sp>
      <p:sp>
        <p:nvSpPr>
          <p:cNvPr id="7" name="Ellipse 7"/>
          <p:cNvSpPr/>
          <p:nvPr/>
        </p:nvSpPr>
        <p:spPr>
          <a:xfrm>
            <a:off x="609600" y="800100"/>
            <a:ext cx="685800" cy="685800"/>
          </a:xfrm>
          <a:prstGeom prst="ellipse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16140" y="1024890"/>
            <a:ext cx="2727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李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68755" y="98107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李硕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5142" y="1759268"/>
            <a:ext cx="173113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52B788"/>
                </a:solidFill>
                <a:latin typeface="Segoe UI"/>
                <a:ea typeface="Microsoft YaHei"/>
                <a:cs typeface="Segoe UI"/>
              </a:rPr>
              <a:t>管理后台全功能实现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62000" y="2047875"/>
            <a:ext cx="1085850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952500" y="2190750"/>
            <a:ext cx="4953000" cy="762000"/>
          </a:xfrm>
          <a:prstGeom prst="roundRect">
            <a:avLst>
              <a:gd name="adj" fmla="val 75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3014647" y="2315528"/>
            <a:ext cx="82870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2D6A4F"/>
                </a:solidFill>
                <a:latin typeface="Segoe UI"/>
                <a:ea typeface="Segoe UI"/>
                <a:cs typeface="Segoe UI"/>
              </a:rPr>
              <a:t>AdminUsers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524639" y="2522220"/>
            <a:ext cx="180872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用户列表 · 启用/禁用 · 角色分配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60600" y="2720816"/>
            <a:ext cx="113679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>分页 + 状态确认对话框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096000" y="2190750"/>
            <a:ext cx="2571750" cy="762000"/>
          </a:xfrm>
          <a:prstGeom prst="roundRect">
            <a:avLst>
              <a:gd name="adj" fmla="val 75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6845067" y="2315528"/>
            <a:ext cx="107361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2D6A4F"/>
                </a:solidFill>
                <a:latin typeface="Segoe UI"/>
                <a:ea typeface="Segoe UI"/>
                <a:cs typeface="Segoe UI"/>
              </a:rPr>
              <a:t>AdminProducts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668338" y="2522220"/>
            <a:ext cx="142707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审核通过/驳回 · 违规下架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869006" y="2720816"/>
            <a:ext cx="102573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>编辑弹窗 + 分页重置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810625" y="2190750"/>
            <a:ext cx="2571750" cy="762000"/>
          </a:xfrm>
          <a:prstGeom prst="roundRect">
            <a:avLst>
              <a:gd name="adj" fmla="val 75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626333" y="2315528"/>
            <a:ext cx="94033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2D6A4F"/>
                </a:solidFill>
                <a:latin typeface="Segoe UI"/>
                <a:ea typeface="Segoe UI"/>
                <a:cs typeface="Segoe UI"/>
              </a:rPr>
              <a:t>AdminOrders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537440" y="2522220"/>
            <a:ext cx="111812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状态流转 · 订单搜索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94693" y="2720816"/>
            <a:ext cx="80361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>详情弹窗 + 分页</a:t>
            </a:r>
          </a:p>
        </p:txBody>
      </p:sp>
      <p:sp>
        <p:nvSpPr>
          <p:cNvPr id="24" name="Rectangle 24"/>
          <p:cNvSpPr/>
          <p:nvPr/>
        </p:nvSpPr>
        <p:spPr>
          <a:xfrm>
            <a:off x="952500" y="3048000"/>
            <a:ext cx="3333750" cy="762000"/>
          </a:xfrm>
          <a:prstGeom prst="roundRect">
            <a:avLst>
              <a:gd name="adj" fmla="val 7500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2205022" y="3172778"/>
            <a:ext cx="82870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E65100"/>
                </a:solidFill>
                <a:latin typeface="Segoe UI"/>
                <a:ea typeface="Segoe UI"/>
                <a:cs typeface="Segoe UI"/>
              </a:rPr>
              <a:t>AdminStats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980558" y="3379470"/>
            <a:ext cx="127763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ECharts 饼图 + 折线图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992668" y="3578066"/>
            <a:ext cx="125341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>组件卸载 dispose 防泄漏</a:t>
            </a:r>
          </a:p>
        </p:txBody>
      </p:sp>
      <p:sp>
        <p:nvSpPr>
          <p:cNvPr id="28" name="Rectangle 28"/>
          <p:cNvSpPr/>
          <p:nvPr/>
        </p:nvSpPr>
        <p:spPr>
          <a:xfrm>
            <a:off x="4476750" y="3048000"/>
            <a:ext cx="3333750" cy="762000"/>
          </a:xfrm>
          <a:prstGeom prst="roundRect">
            <a:avLst>
              <a:gd name="adj" fmla="val 7500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5387797" y="3172778"/>
            <a:ext cx="151165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E65100"/>
                </a:solidFill>
                <a:latin typeface="Segoe UI"/>
                <a:ea typeface="Segoe UI"/>
                <a:cs typeface="Segoe UI"/>
              </a:rPr>
              <a:t>AdminAnnouncements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514899" y="3379470"/>
            <a:ext cx="125745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公告发布 · 编辑 · 删除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497482" y="3578066"/>
            <a:ext cx="129228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>状态切换（已发布/草稿）</a:t>
            </a:r>
          </a:p>
        </p:txBody>
      </p:sp>
      <p:sp>
        <p:nvSpPr>
          <p:cNvPr id="32" name="Rectangle 32"/>
          <p:cNvSpPr/>
          <p:nvPr/>
        </p:nvSpPr>
        <p:spPr>
          <a:xfrm>
            <a:off x="8001000" y="3048000"/>
            <a:ext cx="3381375" cy="762000"/>
          </a:xfrm>
          <a:prstGeom prst="roundRect">
            <a:avLst>
              <a:gd name="adj" fmla="val 7500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231753" y="3172778"/>
            <a:ext cx="91034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E65100"/>
                </a:solidFill>
                <a:latin typeface="Segoe UI"/>
                <a:ea typeface="Segoe UI"/>
                <a:cs typeface="Segoe UI"/>
              </a:rPr>
              <a:t>AdminLayout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067286" y="3379470"/>
            <a:ext cx="123927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侧边栏导航 · 路由鉴权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237916" y="3578066"/>
            <a:ext cx="89801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>响应式折叠侧边栏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55142" y="4235768"/>
            <a:ext cx="173113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数据可视化技术亮点</a:t>
            </a:r>
          </a:p>
        </p:txBody>
      </p:sp>
      <p:sp>
        <p:nvSpPr>
          <p:cNvPr id="37" name="Rectangle 37"/>
          <p:cNvSpPr/>
          <p:nvPr/>
        </p:nvSpPr>
        <p:spPr>
          <a:xfrm>
            <a:off x="762000" y="4524375"/>
            <a:ext cx="10858500" cy="571500"/>
          </a:xfrm>
          <a:prstGeom prst="roundRect">
            <a:avLst>
              <a:gd name="adj" fmla="val 13333"/>
            </a:avLst>
          </a:prstGeom>
          <a:solidFill>
            <a:srgbClr val="FFF8F0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1042416" y="4649152"/>
            <a:ext cx="126758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ECharts 饼图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分类占比环形图，展示各商品分类数量分布 | </a:t>
            </a:r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ECharts 折线图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每日用户注册量与订单量趋势 | </a:t>
            </a:r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自适应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窗口 resize 图表同步缩放 | </a:t>
            </a:r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内存管理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onUnmounted 中 chart.dispose() 释放资源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55142" y="528351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52B788"/>
                </a:solidFill>
                <a:latin typeface="Segoe UI"/>
                <a:ea typeface="Microsoft YaHei"/>
                <a:cs typeface="Segoe UI"/>
              </a:rPr>
              <a:t>代码贡献统计</a:t>
            </a:r>
          </a:p>
        </p:txBody>
      </p:sp>
      <p:sp>
        <p:nvSpPr>
          <p:cNvPr id="40" name="Rectangle 40"/>
          <p:cNvSpPr/>
          <p:nvPr/>
        </p:nvSpPr>
        <p:spPr>
          <a:xfrm>
            <a:off x="762000" y="5572125"/>
            <a:ext cx="3238500" cy="428625"/>
          </a:xfrm>
          <a:prstGeom prst="roundRect">
            <a:avLst>
              <a:gd name="adj" fmla="val 13333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1464202" y="5725478"/>
            <a:ext cx="183409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20 个文件 · 约 5,230 行代码</a:t>
            </a:r>
          </a:p>
        </p:txBody>
      </p:sp>
      <p:sp>
        <p:nvSpPr>
          <p:cNvPr id="42" name="Rectangle 42"/>
          <p:cNvSpPr/>
          <p:nvPr/>
        </p:nvSpPr>
        <p:spPr>
          <a:xfrm>
            <a:off x="4191000" y="5572125"/>
            <a:ext cx="3238500" cy="428625"/>
          </a:xfrm>
          <a:prstGeom prst="roundRect">
            <a:avLst>
              <a:gd name="adj" fmla="val 13333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5250113" y="5725478"/>
            <a:ext cx="112027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6 个管理后台页面</a:t>
            </a:r>
          </a:p>
        </p:txBody>
      </p:sp>
      <p:sp>
        <p:nvSpPr>
          <p:cNvPr id="44" name="Rectangle 44"/>
          <p:cNvSpPr/>
          <p:nvPr/>
        </p:nvSpPr>
        <p:spPr>
          <a:xfrm>
            <a:off x="7620000" y="5572125"/>
            <a:ext cx="3238500" cy="428625"/>
          </a:xfrm>
          <a:prstGeom prst="roundRect">
            <a:avLst>
              <a:gd name="adj" fmla="val 13333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8601370" y="5725478"/>
            <a:ext cx="127575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217 件商品种子数据</a:t>
            </a:r>
          </a:p>
        </p:txBody>
      </p:sp>
      <p:sp>
        <p:nvSpPr>
          <p:cNvPr id="46" name="Rectangle 46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11495265" y="6626066"/>
            <a:ext cx="3204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9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133350"/>
            <a:ext cx="1238250" cy="352425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2282" y="287655"/>
            <a:ext cx="284408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刘轩霆 — 后端开发 A</a:t>
            </a:r>
          </a:p>
        </p:txBody>
      </p:sp>
      <p:sp>
        <p:nvSpPr>
          <p:cNvPr id="7" name="Ellipse 7"/>
          <p:cNvSpPr/>
          <p:nvPr/>
        </p:nvSpPr>
        <p:spPr>
          <a:xfrm>
            <a:off x="609600" y="800100"/>
            <a:ext cx="685800" cy="68580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16140" y="1024890"/>
            <a:ext cx="2727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刘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68755" y="981075"/>
            <a:ext cx="6513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刘轩霆</a:t>
            </a:r>
          </a:p>
        </p:txBody>
      </p:sp>
      <p:sp>
        <p:nvSpPr>
          <p:cNvPr id="10" name="Rectangle 10"/>
          <p:cNvSpPr/>
          <p:nvPr/>
        </p:nvSpPr>
        <p:spPr>
          <a:xfrm>
            <a:off x="1476375" y="1285875"/>
            <a:ext cx="1714500" cy="209550"/>
          </a:xfrm>
          <a:prstGeom prst="roundRect">
            <a:avLst>
              <a:gd name="adj" fmla="val 18182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920711" y="1349216"/>
            <a:ext cx="82582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后端开发工程师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5142" y="1759268"/>
            <a:ext cx="173113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用户认证与安全框架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62000" y="2047875"/>
            <a:ext cx="5238750" cy="2286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947547" y="2209324"/>
            <a:ext cx="362484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Spring Security + JWT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无状态认证架构 + BCrypt 密码加密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7547" y="2447449"/>
            <a:ext cx="421113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JWT 双 Token 机制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Access Token 2h + Refresh Token 7d + 自动刷新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7547" y="2685574"/>
            <a:ext cx="387298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Token 黑名单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登出时加入 Redis 黑名单，防止泄露 Token 被复用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7547" y="2923699"/>
            <a:ext cx="402480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三级权限控制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公开接口 / 认证接口 / 管理员接口 (ROLE_ADMIN)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7547" y="3161824"/>
            <a:ext cx="289453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登录频率限制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10次/15分钟 IP 级别防暴力破解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7547" y="3399949"/>
            <a:ext cx="359971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验证码机制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邮件验证码 + 5 分钟有效期 + 3次/5分钟频率限制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7547" y="3638074"/>
            <a:ext cx="34517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CORS 跨域配置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白名单来源 + AllowCredentials 安全设置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7547" y="3876199"/>
            <a:ext cx="307424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全局异常处理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RestControllerAdvice 统一异常响应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470142" y="1759268"/>
            <a:ext cx="116298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商品模块 API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477000" y="2047875"/>
            <a:ext cx="5143500" cy="2286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6662547" y="2209324"/>
            <a:ext cx="367432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商品发布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多图关联 + 封面自动设置 + 表单校验 (DTO @Valid)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62547" y="2447449"/>
            <a:ext cx="43190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商品列表查询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分页 + 多条件筛选 + 排序 + MySQL FULLTEXT 全文搜索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62547" y="2685574"/>
            <a:ext cx="38167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批量加载优化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分类名 + 卖家信息一次 SQL 查询避免 N+1 问题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62547" y="2923699"/>
            <a:ext cx="210341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浏览量统计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非卖家浏览才 +1，防刷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662547" y="3161824"/>
            <a:ext cx="351203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分类树查询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递归构建二级分类树，Redis 缓存减少 DB 查询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62547" y="3399949"/>
            <a:ext cx="38097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商品状态管理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在售/下架/已售出/待审核/审核驳回 5 种状态流转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62547" y="3638074"/>
            <a:ext cx="239873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收藏功能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收藏/取消收藏 + 收藏列表分页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55142" y="452151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订单核心流程</a:t>
            </a:r>
          </a:p>
        </p:txBody>
      </p:sp>
      <p:sp>
        <p:nvSpPr>
          <p:cNvPr id="32" name="Rectangle 32"/>
          <p:cNvSpPr/>
          <p:nvPr/>
        </p:nvSpPr>
        <p:spPr>
          <a:xfrm>
            <a:off x="762000" y="4810125"/>
            <a:ext cx="1085850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42416" y="4934902"/>
            <a:ext cx="130549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悲观锁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selectByIdForUpdate 防双重出售 | </a:t>
            </a:r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自买自卖校验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不能购买自己的商品 | </a:t>
            </a:r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状态机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待付款→待发货→待收货→已完成/已取消 | </a:t>
            </a:r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订单日志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每次状态变更记录操作人和备注 | </a:t>
            </a:r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订单号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ORD + 时间戳 + 随机数</a:t>
            </a:r>
          </a:p>
        </p:txBody>
      </p:sp>
      <p:sp>
        <p:nvSpPr>
          <p:cNvPr id="34" name="Rectangle 34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1434181" y="6626066"/>
            <a:ext cx="38158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10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133350"/>
            <a:ext cx="1238250" cy="352425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2282" y="287655"/>
            <a:ext cx="392474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刘轩霆 — 后台管理与技术亮点</a:t>
            </a:r>
          </a:p>
        </p:txBody>
      </p:sp>
      <p:sp>
        <p:nvSpPr>
          <p:cNvPr id="7" name="Ellipse 7"/>
          <p:cNvSpPr/>
          <p:nvPr/>
        </p:nvSpPr>
        <p:spPr>
          <a:xfrm>
            <a:off x="609600" y="800100"/>
            <a:ext cx="685800" cy="68580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16140" y="1024890"/>
            <a:ext cx="2727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刘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68755" y="981075"/>
            <a:ext cx="6513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刘轩霆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5142" y="1759268"/>
            <a:ext cx="116298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后台管理 API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62000" y="2047875"/>
            <a:ext cx="523875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947166" y="2201228"/>
            <a:ext cx="358018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用户管理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列表查询 (分页) + 状态切换 + 角色分配 API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7166" y="2458402"/>
            <a:ext cx="45763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商品审核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待审核列表 + 通过 (status=在售) + 驳回 (status=审核驳回)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7166" y="2715578"/>
            <a:ext cx="33465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订单管理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全量订单查询 (分页+筛选) + 状态流转操作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7166" y="2972752"/>
            <a:ext cx="38130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数据统计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用户量/商品量/成交量统计 + 分类占比 + 每日趋势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7166" y="3229928"/>
            <a:ext cx="250484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公告管理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公告 CRUD + 发布/草稿状态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7738" y="3578066"/>
            <a:ext cx="295306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所有管理接口通过 SecurityConfig .hasRole(ADMIN) 保护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70142" y="175926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技术架构贡献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477000" y="2047875"/>
            <a:ext cx="51435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6662166" y="2201228"/>
            <a:ext cx="546545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SpringBoot 3.2 工程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pom.xml 依赖管理 (SpringBoot/MyBatis-Plus/JWT/Hutool)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662166" y="2458402"/>
            <a:ext cx="453550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MyBatis-Plus 配置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逻辑删除 + 自动填充 + 分页插件 + XML 动态 SQL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62166" y="2715578"/>
            <a:ext cx="413452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Knife4j API 文档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自动生成 Swagger 接口文档，方便前后端联调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62166" y="2972752"/>
            <a:ext cx="380905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统一返回封装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Result / PageResult 标准化 JSON 响应格式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62166" y="3229928"/>
            <a:ext cx="41537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RedisTemplate 配置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Jackson2JsonRedisSerializer 序列化策略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62738" y="3578066"/>
            <a:ext cx="297256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后端代码 8,000+ 行 · 30+ API 接口 · 14 单元测试全通过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55142" y="4188142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核心技术亮点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62000" y="4524375"/>
            <a:ext cx="3429000" cy="1143000"/>
          </a:xfrm>
          <a:prstGeom prst="roundRect">
            <a:avLst>
              <a:gd name="adj" fmla="val 6667"/>
            </a:avLst>
          </a:prstGeom>
          <a:solidFill>
            <a:srgbClr val="FFF8F0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669916" y="4677728"/>
            <a:ext cx="161316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JWT 双 Token 无感刷新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794236" y="4932045"/>
            <a:ext cx="136452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Access 2h + Refresh 7d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805368" y="5122545"/>
            <a:ext cx="134226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请求队列排队防并发刷新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047684" y="5313045"/>
            <a:ext cx="85763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黑名单即时失效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381500" y="4524375"/>
            <a:ext cx="3429000" cy="1143000"/>
          </a:xfrm>
          <a:prstGeom prst="roundRect">
            <a:avLst>
              <a:gd name="adj" fmla="val 6667"/>
            </a:avLst>
          </a:prstGeom>
          <a:solidFill>
            <a:srgbClr val="FFF8F0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5365375" y="4677728"/>
            <a:ext cx="146124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SQL 优化 — 避免 N+1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391550" y="4932045"/>
            <a:ext cx="140890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分类名/卖家信息批量加载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275135" y="5122545"/>
            <a:ext cx="164172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1 次 JOIN 替代 N 次单表查询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594993" y="5313045"/>
            <a:ext cx="100201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分类树 Redis 缓存</a:t>
            </a:r>
          </a:p>
        </p:txBody>
      </p:sp>
      <p:sp>
        <p:nvSpPr>
          <p:cNvPr id="37" name="Rectangle 37"/>
          <p:cNvSpPr/>
          <p:nvPr/>
        </p:nvSpPr>
        <p:spPr>
          <a:xfrm>
            <a:off x="8001000" y="4524375"/>
            <a:ext cx="3619500" cy="1143000"/>
          </a:xfrm>
          <a:prstGeom prst="roundRect">
            <a:avLst>
              <a:gd name="adj" fmla="val 6667"/>
            </a:avLst>
          </a:prstGeom>
          <a:solidFill>
            <a:srgbClr val="FFF8F0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9434370" y="4677728"/>
            <a:ext cx="75276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数据库设计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145676" y="4932045"/>
            <a:ext cx="133014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13 张表 · utf8mb4 编码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312269" y="5122545"/>
            <a:ext cx="99696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软删除 + 逻辑外键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249118" y="5313045"/>
            <a:ext cx="112326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FULLTEXT 全文索引</a:t>
            </a:r>
          </a:p>
        </p:txBody>
      </p:sp>
      <p:sp>
        <p:nvSpPr>
          <p:cNvPr id="42" name="Rectangle 42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11434181" y="6626066"/>
            <a:ext cx="38158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11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133350"/>
            <a:ext cx="1238250" cy="352425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2282" y="287655"/>
            <a:ext cx="284408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胡欣悦 — 后端开发 B</a:t>
            </a:r>
          </a:p>
        </p:txBody>
      </p:sp>
      <p:sp>
        <p:nvSpPr>
          <p:cNvPr id="7" name="Ellipse 7"/>
          <p:cNvSpPr/>
          <p:nvPr/>
        </p:nvSpPr>
        <p:spPr>
          <a:xfrm>
            <a:off x="609600" y="800100"/>
            <a:ext cx="685800" cy="68580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16140" y="1024890"/>
            <a:ext cx="2727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胡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68755" y="981075"/>
            <a:ext cx="6513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胡欣悦</a:t>
            </a:r>
          </a:p>
        </p:txBody>
      </p:sp>
      <p:sp>
        <p:nvSpPr>
          <p:cNvPr id="10" name="Rectangle 10"/>
          <p:cNvSpPr/>
          <p:nvPr/>
        </p:nvSpPr>
        <p:spPr>
          <a:xfrm>
            <a:off x="1476375" y="1285875"/>
            <a:ext cx="1714500" cy="209550"/>
          </a:xfrm>
          <a:prstGeom prst="roundRect">
            <a:avLst>
              <a:gd name="adj" fmla="val 18182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920711" y="1349216"/>
            <a:ext cx="82582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后端开发工程师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5142" y="175926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购物车模块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62000" y="2047875"/>
            <a:ext cx="523875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947166" y="2220278"/>
            <a:ext cx="333241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添加商品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自动去重（同一用户同一商品只保留一条）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7166" y="2477452"/>
            <a:ext cx="281648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购物车列表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返回商品详情 + 数量 + 是否选中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7166" y="2734628"/>
            <a:ext cx="256555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修改数量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quantity 更新 API + 参数校验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7166" y="2991802"/>
            <a:ext cx="335361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删除商品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购物车项删除 + 权限校验（只能删自己的）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7166" y="3248978"/>
            <a:ext cx="363314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选中/取消选中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selected 字段切换，结算时只计算选中项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70142" y="1759268"/>
            <a:ext cx="134948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消息与通知模块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477000" y="2047875"/>
            <a:ext cx="514350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6662166" y="2220278"/>
            <a:ext cx="425809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站内信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MessageController 5 个端点：发送/接收/会话/已读/未读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62166" y="2477452"/>
            <a:ext cx="435826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系统通知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NotificationController 3 个端点：列表/标记已读/未读数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62166" y="2734628"/>
            <a:ext cx="29507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会话聚合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按对话方分组 + 最后消息 + 未读计数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62166" y="2991802"/>
            <a:ext cx="290809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标记已读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批量 UPDATE 对方发来的未读消息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62166" y="3248978"/>
            <a:ext cx="264686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未读计数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消息 + 通知双维度实时未读计数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55142" y="380714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数据统计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62000" y="4095750"/>
            <a:ext cx="52387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947166" y="4268152"/>
            <a:ext cx="387661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首页统计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/index/statistics → 用户总数/商品总数/订单总数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47166" y="4525328"/>
            <a:ext cx="352784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分类统计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/category/list → 树形结构查询 + Redis 缓存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47166" y="4782502"/>
            <a:ext cx="478126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管理后台统计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/admin/statistics → 用户量/商品量/成交量/分类占比/趋势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47166" y="5039678"/>
            <a:ext cx="329707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公告列表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/announcement/list → 公开接口无需认证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470142" y="380714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文件上传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477000" y="4095750"/>
            <a:ext cx="51435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6662166" y="4268152"/>
            <a:ext cx="38624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通用上传接口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/upload/image → multipart/form-data 接收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662166" y="4525328"/>
            <a:ext cx="36039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格式校验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MIME 类型白名单（jpg/jpeg/png/gif/webp）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662166" y="4782502"/>
            <a:ext cx="23032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大小限制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单文件 5MB，请求 50MB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662166" y="5039678"/>
            <a:ext cx="411681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持久化存储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Docker Volume 挂载到 /data/zhuanzhuan/uploads</a:t>
            </a:r>
          </a:p>
        </p:txBody>
      </p:sp>
      <p:sp>
        <p:nvSpPr>
          <p:cNvPr id="38" name="Rectangle 38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11434181" y="6626066"/>
            <a:ext cx="38158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12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133350"/>
            <a:ext cx="1238250" cy="352425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2282" y="287655"/>
            <a:ext cx="354207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胡欣悦 — Docker 部署运维</a:t>
            </a:r>
          </a:p>
        </p:txBody>
      </p:sp>
      <p:sp>
        <p:nvSpPr>
          <p:cNvPr id="7" name="Ellipse 7"/>
          <p:cNvSpPr/>
          <p:nvPr/>
        </p:nvSpPr>
        <p:spPr>
          <a:xfrm>
            <a:off x="609600" y="800100"/>
            <a:ext cx="685800" cy="68580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16140" y="1024890"/>
            <a:ext cx="2727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胡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68755" y="981075"/>
            <a:ext cx="6513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胡欣悦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5142" y="1759268"/>
            <a:ext cx="1477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Docker 部署架构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62000" y="2095500"/>
            <a:ext cx="10858500" cy="2286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1047750" y="2381250"/>
            <a:ext cx="2095500" cy="9525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9050">
            <a:solidFill>
              <a:srgbClr val="E76F51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1677705" y="2585085"/>
            <a:ext cx="8355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Nginx 前端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75828" y="2863691"/>
            <a:ext cx="83934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dirty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Vue3 SPA :3000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13493" y="3054191"/>
            <a:ext cx="116401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反向代理 + Gzip + 限流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420618" y="2679382"/>
            <a:ext cx="1389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E76F51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7" name="Rectangle 17"/>
          <p:cNvSpPr/>
          <p:nvPr/>
        </p:nvSpPr>
        <p:spPr>
          <a:xfrm>
            <a:off x="3810000" y="2381250"/>
            <a:ext cx="2095500" cy="9525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9050">
            <a:solidFill>
              <a:srgbClr val="52B788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4204085" y="2585085"/>
            <a:ext cx="13073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SpringBoot 后端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478482" y="2863691"/>
            <a:ext cx="75853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dirty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Java 17 :8080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248645" y="3054191"/>
            <a:ext cx="121820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多环境配置 + JWT 安全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182868" y="2679382"/>
            <a:ext cx="1389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52B788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572250" y="2381250"/>
            <a:ext cx="2286000" cy="9525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9050">
            <a:solidFill>
              <a:srgbClr val="1976D2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7257033" y="2585085"/>
            <a:ext cx="91643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1565C0"/>
                </a:solidFill>
                <a:latin typeface="Segoe UI"/>
                <a:ea typeface="Segoe UI"/>
                <a:cs typeface="Segoe UI"/>
              </a:rPr>
              <a:t>MySQL 8.0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242248" y="2863691"/>
            <a:ext cx="94600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InnoDB + 全文索引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302336" y="3054191"/>
            <a:ext cx="82582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utf8mb4 字符集</a:t>
            </a:r>
          </a:p>
        </p:txBody>
      </p:sp>
      <p:sp>
        <p:nvSpPr>
          <p:cNvPr id="26" name="Rectangle 26"/>
          <p:cNvSpPr/>
          <p:nvPr/>
        </p:nvSpPr>
        <p:spPr>
          <a:xfrm>
            <a:off x="9144000" y="2381250"/>
            <a:ext cx="2190750" cy="952500"/>
          </a:xfrm>
          <a:prstGeom prst="roundRect">
            <a:avLst>
              <a:gd name="adj" fmla="val 8000"/>
            </a:avLst>
          </a:prstGeom>
          <a:solidFill>
            <a:srgbClr val="FCE4EC"/>
          </a:solidFill>
          <a:ln w="19050">
            <a:solidFill>
              <a:srgbClr val="C62828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945947" y="2585085"/>
            <a:ext cx="5868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C62828"/>
                </a:solidFill>
                <a:latin typeface="Segoe UI"/>
                <a:ea typeface="Segoe UI"/>
                <a:cs typeface="Segoe UI"/>
              </a:rPr>
              <a:t>Redis 7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717946" y="2863691"/>
            <a:ext cx="104285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缓存 + Token 黑名单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932441" y="3054191"/>
            <a:ext cx="61386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AOF 持久化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600057" y="3561874"/>
            <a:ext cx="518238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Docker Network Bridge (zhuanzhuan-net) · 容器间内部通信 · 仅前端暴露 3000 端口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55142" y="4712018"/>
            <a:ext cx="134948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运维与部署贡献</a:t>
            </a:r>
          </a:p>
        </p:txBody>
      </p:sp>
      <p:sp>
        <p:nvSpPr>
          <p:cNvPr id="32" name="Rectangle 32"/>
          <p:cNvSpPr/>
          <p:nvPr/>
        </p:nvSpPr>
        <p:spPr>
          <a:xfrm>
            <a:off x="762000" y="5000625"/>
            <a:ext cx="5238750" cy="1095375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947166" y="5153978"/>
            <a:ext cx="38462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后端 Dockerfile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多阶段构建 (Maven 编译层 + JRE 运行层)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47166" y="5411152"/>
            <a:ext cx="381653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前端 Dockerfile + Nginx 配置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Vue3 构建 + Nginx 反向代理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47166" y="5668328"/>
            <a:ext cx="380839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MySQL 初始化脚本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建库建表 + 默认数据 + 自定义 my.cnf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47166" y="5925502"/>
            <a:ext cx="303252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Redis 配置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密码认证 + AOF 持久化 + 健康检查</a:t>
            </a:r>
          </a:p>
        </p:txBody>
      </p:sp>
      <p:sp>
        <p:nvSpPr>
          <p:cNvPr id="37" name="Rectangle 37"/>
          <p:cNvSpPr/>
          <p:nvPr/>
        </p:nvSpPr>
        <p:spPr>
          <a:xfrm>
            <a:off x="6477000" y="5000625"/>
            <a:ext cx="5143500" cy="1095375"/>
          </a:xfrm>
          <a:prstGeom prst="roundRect">
            <a:avLst>
              <a:gd name="adj" fmla="val 6957"/>
            </a:avLst>
          </a:prstGeom>
          <a:solidFill>
            <a:srgbClr val="FFF8F0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6120956" y="5212556"/>
            <a:ext cx="128358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部署运维关键成果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739572" y="5506402"/>
            <a:ext cx="604635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一键启动 docker-compose up -d --build · 健康检查自动等待 · 容器重启策略 unless-stopped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230413" y="5744528"/>
            <a:ext cx="50646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多环境配置分离 (dev/prod/test) · 敏感信息 .env 管理 · 时区 Asia/Shanghai</a:t>
            </a:r>
          </a:p>
        </p:txBody>
      </p:sp>
      <p:sp>
        <p:nvSpPr>
          <p:cNvPr id="41" name="Rectangle 41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11434181" y="6626066"/>
            <a:ext cx="38158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13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133350"/>
            <a:ext cx="1238250" cy="352425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2282" y="287655"/>
            <a:ext cx="180235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项目成果总结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857250"/>
            <a:ext cx="2476500" cy="1047750"/>
          </a:xfrm>
          <a:prstGeom prst="roundRect">
            <a:avLst>
              <a:gd name="adj" fmla="val 9091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801475" y="979170"/>
            <a:ext cx="397551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400" b="1" dirty="0">
                <a:solidFill>
                  <a:srgbClr val="2D6A4F"/>
                </a:solidFill>
                <a:latin typeface="Segoe UI"/>
                <a:ea typeface="Segoe UI"/>
                <a:cs typeface="Segoe UI"/>
              </a:rPr>
              <a:t>17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12214" y="13630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注册用户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429000" y="857250"/>
            <a:ext cx="2476500" cy="1047750"/>
          </a:xfrm>
          <a:prstGeom prst="roundRect">
            <a:avLst>
              <a:gd name="adj" fmla="val 9091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375183" y="979170"/>
            <a:ext cx="58413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400" b="1" dirty="0">
                <a:solidFill>
                  <a:srgbClr val="2D6A4F"/>
                </a:solidFill>
                <a:latin typeface="Segoe UI"/>
                <a:ea typeface="Segoe UI"/>
                <a:cs typeface="Segoe UI"/>
              </a:rPr>
              <a:t>217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379214" y="13630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商品数据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096000" y="857250"/>
            <a:ext cx="2476500" cy="1047750"/>
          </a:xfrm>
          <a:prstGeom prst="roundRect">
            <a:avLst>
              <a:gd name="adj" fmla="val 9091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042183" y="979170"/>
            <a:ext cx="58413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400" b="1" dirty="0">
                <a:solidFill>
                  <a:srgbClr val="2D6A4F"/>
                </a:solidFill>
                <a:latin typeface="Segoe UI"/>
                <a:ea typeface="Segoe UI"/>
                <a:cs typeface="Segoe UI"/>
              </a:rPr>
              <a:t>30+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052615" y="1363028"/>
            <a:ext cx="56327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API 接口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763000" y="857250"/>
            <a:ext cx="2667000" cy="1047750"/>
          </a:xfrm>
          <a:prstGeom prst="roundRect">
            <a:avLst>
              <a:gd name="adj" fmla="val 9091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897725" y="979170"/>
            <a:ext cx="397551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400" b="1" dirty="0">
                <a:solidFill>
                  <a:srgbClr val="2D6A4F"/>
                </a:solidFill>
                <a:latin typeface="Segoe UI"/>
                <a:ea typeface="Segoe UI"/>
                <a:cs typeface="Segoe UI"/>
              </a:rPr>
              <a:t>21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808464" y="13630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前端页面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4380" y="22193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技术成果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62000" y="2571750"/>
            <a:ext cx="523875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47166" y="2744152"/>
            <a:ext cx="381789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前端</a:t>
            </a:r>
            <a:r>
              <a:rPr lang="en-US" sz="1050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 xml:space="preserve"> Vue3 + TypeScript + Element Plus + Pinia + ECharts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7166" y="2982278"/>
            <a:ext cx="429284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后端</a:t>
            </a:r>
            <a:r>
              <a:rPr lang="en-US" sz="1050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 xml:space="preserve"> SpringBoot 3.2 + MyBatis-Plus + Security + JWT + Knife4j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7166" y="3220402"/>
            <a:ext cx="40520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数据库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MySQL 8.0 (13 张表 / InnoDB / 全文索引 / utf8mb4)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47166" y="3458528"/>
            <a:ext cx="33700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缓存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Redis 7 (验证码 / Token 黑名单 / 分类树缓存)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47166" y="3696652"/>
            <a:ext cx="29122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部署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Docker Compose 4 容器编排 + 一键部署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7166" y="3934778"/>
            <a:ext cx="40207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代码量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前端 18,000+ 行 + 后端 8,000+ 行 + SQL 1,400+ 行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47166" y="4172902"/>
            <a:ext cx="18835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文档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7 份规范化软件工程文档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469380" y="22193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项目亮点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477000" y="2571750"/>
            <a:ext cx="5143500" cy="1905000"/>
          </a:xfrm>
          <a:prstGeom prst="roundRect">
            <a:avLst>
              <a:gd name="adj" fmla="val 4000"/>
            </a:avLst>
          </a:prstGeom>
          <a:solidFill>
            <a:srgbClr val="FFF8F0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757416" y="2744152"/>
            <a:ext cx="46125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完整 C2C 交易闭环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商品发布→浏览→沟通→下单→付款→发货→收货→评价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757416" y="2982278"/>
            <a:ext cx="354634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JWT 双 Token 无感刷新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请求队列排队机制防并发冲突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757416" y="3220402"/>
            <a:ext cx="41079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安全防护多层设计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BCrypt + 频率限制 + 验证码隔离 + 角色鉴权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757416" y="3458528"/>
            <a:ext cx="362610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UI 动效与交互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骨架屏 + 页面过渡 + 滚动感知 + 微交互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757416" y="3696652"/>
            <a:ext cx="353737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消息通知实时化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站内信 + 系统通知 + 订单状态通知联动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757416" y="3934778"/>
            <a:ext cx="35249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Docker 容器化部署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一键启动 + 健康检查 + 数据持久化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757416" y="4172902"/>
            <a:ext cx="415300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前后端分离 + 协同开发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30+ RESTful API + JSON 统一响应格式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54380" y="47910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团队协作</a:t>
            </a:r>
          </a:p>
        </p:txBody>
      </p:sp>
      <p:sp>
        <p:nvSpPr>
          <p:cNvPr id="38" name="Rectangle 38"/>
          <p:cNvSpPr/>
          <p:nvPr/>
        </p:nvSpPr>
        <p:spPr>
          <a:xfrm>
            <a:off x="762000" y="5143500"/>
            <a:ext cx="10858500" cy="523875"/>
          </a:xfrm>
          <a:prstGeom prst="roundRect">
            <a:avLst>
              <a:gd name="adj" fmla="val 14545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1042416" y="5363528"/>
            <a:ext cx="796096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7 天 · 5 人 · 15+ GitHub Commits · 30+ API 接口联调 · 7 份文档 · Docker 一键部署 · 217 件种子数据 · 前后端 0 阻塞交付</a:t>
            </a:r>
          </a:p>
        </p:txBody>
      </p:sp>
      <p:sp>
        <p:nvSpPr>
          <p:cNvPr id="40" name="Rectangle 40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11434181" y="6626066"/>
            <a:ext cx="38158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14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4332"/>
              </a:gs>
              <a:gs pos="50000">
                <a:srgbClr val="2D6A4F"/>
              </a:gs>
              <a:gs pos="100000">
                <a:srgbClr val="40916C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096250" y="-952500"/>
            <a:ext cx="4762500" cy="4762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190500" y="3333750"/>
            <a:ext cx="3810000" cy="381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5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190500"/>
            <a:ext cx="1333500" cy="3810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4768444" y="2213610"/>
            <a:ext cx="2655113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spc="6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感谢聆听</a:t>
            </a:r>
          </a:p>
        </p:txBody>
      </p:sp>
      <p:sp>
        <p:nvSpPr>
          <p:cNvPr id="7" name="Line 7"/>
          <p:cNvSpPr/>
          <p:nvPr/>
        </p:nvSpPr>
        <p:spPr>
          <a:xfrm>
            <a:off x="4762500" y="3048000"/>
            <a:ext cx="2667000" cy="9525"/>
          </a:xfrm>
          <a:custGeom>
            <a:avLst/>
            <a:gdLst/>
            <a:ahLst/>
            <a:cxnLst/>
            <a:rect l="l" t="t" r="r" b="b"/>
            <a:pathLst>
              <a:path w="2667000" h="9525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4760690" y="3362325"/>
            <a:ext cx="26706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转转 — 校园二手物品交易平台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27752" y="3870960"/>
            <a:ext cx="21364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软件工程实训 · 课程设计答辩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681823" y="4450556"/>
            <a:ext cx="282835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张可凡 · 阮崇轩 · 李硕 · 刘轩霆 · 胡欣悦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51018" y="4942999"/>
            <a:ext cx="168996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华中农业大学 · 2026 年 7 月</a:t>
            </a:r>
          </a:p>
        </p:txBody>
      </p:sp>
      <p:sp>
        <p:nvSpPr>
          <p:cNvPr id="12" name="Rectangle 12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2026-07-07T09:22:26Z</dcterms:created>
  <dcterms:modified xsi:type="dcterms:W3CDTF">2026-07-07T09:22:26Z</dcterms:modified>
  <cp:category/>
  <cp:contentStatus/>
</cp:coreProperties>
</file>
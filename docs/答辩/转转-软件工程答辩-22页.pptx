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100000">
                <a:srgbClr val="2D6A4F"/>
              </a:gs>
            </a:gsLst>
            <a:lin ang="1761465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96250" y="-952500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81000" y="4191000"/>
            <a:ext cx="3048000" cy="304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171450"/>
            <a:ext cx="13335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442890" y="1832610"/>
            <a:ext cx="130622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spc="6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95266" y="2727008"/>
            <a:ext cx="26014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spc="3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校园二手物品交易平台</a:t>
            </a:r>
          </a:p>
        </p:txBody>
      </p:sp>
      <p:sp>
        <p:nvSpPr>
          <p:cNvPr id="8" name="Line 8"/>
          <p:cNvSpPr/>
          <p:nvPr/>
        </p:nvSpPr>
        <p:spPr>
          <a:xfrm>
            <a:off x="4762500" y="32385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960987" y="3577114"/>
            <a:ext cx="227002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81823" y="4260056"/>
            <a:ext cx="28283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10083" y="4657249"/>
            <a:ext cx="15718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华中农业大学 · 2026年7月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62790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项目演示 · 首页与商品浏览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666" y="696278"/>
            <a:ext cx="42368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Vue3 + Element Plus · 响应式布局 · 骨架屏加载 · CSS Animation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00125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000125"/>
            <a:ext cx="5334000" cy="400050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209675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14745" y="11358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首页展示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916" y="1553528"/>
            <a:ext cx="6557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Hero 横幅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9547" y="1561624"/>
            <a:ext cx="26743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渐变绿色背景 + 浮动几何圆形装饰 + 品牌标语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916" y="1791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实时统计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9547" y="1799749"/>
            <a:ext cx="24987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17 用户 · 217 商品 · 数据来自 Redis 缓存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916" y="2029778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9547" y="2037874"/>
            <a:ext cx="2671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CSS Animation 水平滚动轮播，鼠标悬停暂停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916" y="22679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分类导航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09547" y="2275999"/>
            <a:ext cx="22927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8 个 Emoji 分类 Tab 切换加载对应商品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1916" y="2506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商品网格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9547" y="2514124"/>
            <a:ext cx="31259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响应式 Grid(minmax 240px) + 骨架屏 Shimmer 加载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1916" y="27441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卡片交互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09547" y="2752249"/>
            <a:ext cx="288955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hover 上浮+阴影+图片放大 + fadeInUp 入场动画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1916" y="2982278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搜索框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9547" y="2990374"/>
            <a:ext cx="27859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圆角输入框 + 橙色按钮，支持回车跳转商品列表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916" y="3220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时间格式化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09547" y="3228499"/>
            <a:ext cx="25408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刚刚 / X分钟前 / X小时前 / X天前 / 日期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1000125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286500" y="1000125"/>
            <a:ext cx="5334000" cy="400050"/>
          </a:xfrm>
          <a:prstGeom prst="roundRect">
            <a:avLst>
              <a:gd name="adj" fmla="val 19048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86500" y="1209675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91215" y="1135856"/>
            <a:ext cx="11245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商品浏览与搜索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66916" y="1553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全文搜索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19797" y="1561624"/>
            <a:ext cx="21023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MySQL FULLTEXT 搜索标题和描述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6916" y="1791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分类筛选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19797" y="1799749"/>
            <a:ext cx="24446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一级+二级级联分类，支持子分类递归查询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6916" y="2029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价格区间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19797" y="2037874"/>
            <a:ext cx="184725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minPrice / maxPrice 范围过滤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6916" y="22679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成色筛选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19797" y="2275999"/>
            <a:ext cx="20640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全新/几乎全新/轻微痕迹/明显痕迹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6916" y="2506028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排序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19797" y="2514124"/>
            <a:ext cx="20377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价格 / 发布时间 / 浏览量 / 收藏数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66916" y="2744152"/>
            <a:ext cx="5558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URL参数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19797" y="2752249"/>
            <a:ext cx="23606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筛选状态同步 URL，刷新保持搜索条件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66916" y="2982278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分页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19797" y="2990374"/>
            <a:ext cx="22658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Element Plus Pagination，每页 20 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66916" y="32204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空状态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19797" y="3228499"/>
            <a:ext cx="14303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El-Empty 组件友好提示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71475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497330" y="3918585"/>
            <a:ext cx="91973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商品详情页：图片画廊 · 成色标签 · 价格展示 · 收藏 · 卖家信息 · 联系卖家 · 加入购物车 · 立即购买 · HTML防XSS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70975" y="4200049"/>
            <a:ext cx="925004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📷 主图+缩略图切换 | 🏷 四档成色彩色标签 | 💰 大号橙色价格+原价删除线 | 👤 卖家卡片(头像+昵称+信誉分) | 📞 一键跳转聊天 | 🛡 sanitizedDescription 三重过滤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422158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项目演示 · 交易流程与支付系统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666" y="667702"/>
            <a:ext cx="55889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完整 C2C 闭环：浏览 → 联系卖家 → 下单(选地址) → 支付(模拟) → 发货 → 收货 → 评价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04489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下单与地址选择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333500"/>
            <a:ext cx="5238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47166" y="148685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购买前先选择收货地址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547" y="1733074"/>
            <a:ext cx="32711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El-Dialog 弹窗展示地址列表，带单选圆点 + 默认标签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547" y="1942624"/>
            <a:ext cx="3022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确认下单后创建订单，自动填充收件人/电话/地址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547" y="2152174"/>
            <a:ext cx="32273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支持从个人中心预先管理地址（CRUD + 设为默认）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70142" y="10448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模拟支付系统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77000" y="13335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662166" y="1486852"/>
            <a:ext cx="1802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PaymentPage 四步支付流程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2547" y="1733074"/>
            <a:ext cx="3041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① 订单摘要 + 选择支付方式（微信/支付宝/校园卡）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2547" y="1942624"/>
            <a:ext cx="247092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② 旋转 spinner 处理中（1.5~2.5s 模拟）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2547" y="2152174"/>
            <a:ext cx="36358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③ 成功：SVG 勾选动画 + 2s 自动跳转 / ④ 失败：抖动 + 重试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142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发货与收货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905125"/>
            <a:ext cx="5238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7166" y="30584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卖家发货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547" y="3304699"/>
            <a:ext cx="30090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订单状态为待发货时，显示「录入物流发货」按钮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547" y="3514249"/>
            <a:ext cx="35394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弹窗选择物流公司（顺丰/中通/圆通/韵达/EMS等8家）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547" y="3723799"/>
            <a:ext cx="27859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输入快递单号 → 状态变更为待收货 → 通知买家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547" y="3933349"/>
            <a:ext cx="30090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物流公司彩色卡片网格选择，带品牌色和选中效果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70142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收货与评价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2905125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62166" y="30584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买家收货确认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304699"/>
            <a:ext cx="32125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待收货时物流信息醒目展示（物流卡片+可复制单号）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514249"/>
            <a:ext cx="25234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确认收货 → 状态变更为已完成 → 通知卖家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2547" y="3723799"/>
            <a:ext cx="25374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评价：El-Rate 星级打分 + 文字评价内容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62547" y="3933349"/>
            <a:ext cx="2221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已取消订单：红色专用取消卡片展示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4476750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042035" y="4622006"/>
            <a:ext cx="16016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订单状态可视化进度条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233547" y="4638199"/>
            <a:ext cx="48014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待付款 → 待发货 → 待收货 → 已完成（当前步骤绿色脉冲高亮 + SVG 勾选动画）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42797" y="4866799"/>
            <a:ext cx="55225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上下文提示：「请尽快完成支付」「等待卖家发货」「收到商品后请确认收货」「交易已完成」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62790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项目演示 · 消息与通知系统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666" y="667702"/>
            <a:ext cx="35868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站内信实时聊天 + 系统通知自动推送 + 订单状态联动通知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0448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站内信系统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333500"/>
            <a:ext cx="52387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47166" y="14868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双栏聊天界面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547" y="1733074"/>
            <a:ext cx="37375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左侧 340px 会话列表（头像+昵称+最后消息+未读红点+时间）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547" y="1942624"/>
            <a:ext cx="33437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右侧聊天气泡面板（我方绿色右对齐/对方灰色左对齐）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547" y="2152174"/>
            <a:ext cx="2515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Enter 快捷发送 + 发送按钮 loading 状态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547" y="2390299"/>
            <a:ext cx="30287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• 实时轮询：每 5 秒自动拉取新消息，无需手动刷新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70142" y="1044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通知系统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477000" y="133350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662166" y="14868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系统通知全链路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2547" y="1733074"/>
            <a:ext cx="30928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头部铃铛图标 + 红色未读徽标 + Popover 下拉列表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2547" y="1942624"/>
            <a:ext cx="21427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30 秒轮询刷新未读消息数和通知数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2547" y="2152174"/>
            <a:ext cx="32256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点击通知可跳转：订单通知→订单列表/消息通知→聊天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2547" y="2390299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• 未读通知浅绿背景高亮 + 点击标记已读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5142" y="2902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自动通知触发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3238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42416" y="3410902"/>
            <a:ext cx="37881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发消息 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自动给对方创建「XXX 给你发来一条消息」通知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2416" y="3649028"/>
            <a:ext cx="78807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下单 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通知卖家「您的商品已被下单」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付款 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通知卖家「买家已付款，请发货」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发货 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通知买家「卖家已发货，请查收」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142" y="4188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关键交互细节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524375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7166" y="46777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联系卖家入口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7547" y="4904899"/>
            <a:ext cx="26153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商品详情页卖家卡片「联系卖家」绿色按钮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7547" y="5114449"/>
            <a:ext cx="30058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点击 → /message?to=sellerId 自动打开聊天窗口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7547" y="5323999"/>
            <a:ext cx="24840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未登录自动跳转登录页，登录后继续操作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4524375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662166" y="46777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空状态与异常处理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2547" y="4904899"/>
            <a:ext cx="287781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无会话时：「暂无消息，去商品页联系卖家吧」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62547" y="5114449"/>
            <a:ext cx="19590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无通知时：「暂无通知」空状态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62547" y="5323999"/>
            <a:ext cx="32715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• 首次聊天：「这是你们第一次聊天，发送消息开始吧」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273739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核心设计 · 技术架构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809625"/>
            <a:ext cx="3333750" cy="1905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783387" y="997268"/>
            <a:ext cx="12909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前端 Vue3 SPA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2797" y="1371124"/>
            <a:ext cx="22273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Vue 3 Composition API + TypeScript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797" y="1590199"/>
            <a:ext cx="17886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Vite 5 · Element Plus · Pinia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797" y="1809274"/>
            <a:ext cx="16957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Axios + Token 自动刷新机制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797" y="2028349"/>
            <a:ext cx="16025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ECharts 5 · CSS 设计令牌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797" y="2247424"/>
            <a:ext cx="16768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21 个页面 · 18,000+ 行代码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797" y="2466499"/>
            <a:ext cx="1051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Nginx 部署 :3000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429125" y="809625"/>
            <a:ext cx="3333750" cy="1905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78609" y="997268"/>
            <a:ext cx="16347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后端 SpringBoot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09922" y="1371124"/>
            <a:ext cx="22180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SpringBoot 3.2 · MyBatis-Plus 3.5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09922" y="1590199"/>
            <a:ext cx="17446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Spring Security + JWT 0.12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9922" y="1809274"/>
            <a:ext cx="17817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Jakarta Validation · Knife4j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9922" y="2028349"/>
            <a:ext cx="15872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JavaMailSender · BCrypt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9922" y="2247424"/>
            <a:ext cx="15492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30+ API · 8,000+ 行代码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9922" y="2466499"/>
            <a:ext cx="8777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Tomcat :8080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809625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374457" y="99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数据与部署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77047" y="1371124"/>
            <a:ext cx="19602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MySQL 8.0 · InnoDB · utf8mb4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77047" y="1590199"/>
            <a:ext cx="16768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13 张表 · 全文索引 · 软删除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7047" y="1809274"/>
            <a:ext cx="18271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 7 · AOF · Token 黑名单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77047" y="2028349"/>
            <a:ext cx="17045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Compose 5 容器编排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77047" y="2247424"/>
            <a:ext cx="16665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Nginx · Gzip · 限流 · CORS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7047" y="2466499"/>
            <a:ext cx="1716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一键 docker-compose up -d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142" y="2949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请求链路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286125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514361" y="3468052"/>
            <a:ext cx="71632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浏览器 :3000 → Nginx 反向代理 → /api/* → SpringBoot :8080 → MySQL :3306 / Redis :6379 → JSON 响应返回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142" y="3950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关键技术决策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286250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7166" y="4439602"/>
            <a:ext cx="37071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前后端分离架构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：独立开发、独立部署、JSON API 通信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7166" y="4677728"/>
            <a:ext cx="44341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JWT 无状态认证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：Access Token 2h + Refresh Token 7d + 自动刷新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7166" y="4915852"/>
            <a:ext cx="3282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容器化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：环境一致性、一键部署、健康检查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7166" y="5153978"/>
            <a:ext cx="35614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14 单元测试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：JUnit 全部通过，Postman 30+ 接口回归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4286250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62166" y="4439602"/>
            <a:ext cx="41766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MyBatis-Plus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：逻辑删除、自动填充、分页插件、XML 动态SQL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62166" y="4677728"/>
            <a:ext cx="4035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N+1 优化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：批量加载分类名+卖家信息，1次JOIN替代N次查询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62166" y="4915852"/>
            <a:ext cx="35973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 缓存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：分类树、Token 黑名单、验证码、频率限制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62166" y="5153978"/>
            <a:ext cx="2785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悲观锁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：selectByIdForUpdate 防双重出售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273739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核心设计 · 安全架构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142" y="806768"/>
            <a:ext cx="20740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JWT 双 Token 认证机制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5334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7166" y="1267778"/>
            <a:ext cx="32833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Access Token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：2 小时有效期，承载 userId + role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166" y="1524952"/>
            <a:ext cx="36855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Refresh Token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：7 天有效期，仅用于刷新 Access Token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166" y="1782128"/>
            <a:ext cx="34808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请求队列机制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：多请求并发 401 时，只发一次刷新请求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166" y="2039302"/>
            <a:ext cx="36970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Token 黑名单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：登出时将 Token ID 加入 Redis，拒绝复用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166" y="2296478"/>
            <a:ext cx="32964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实时用户校验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：过滤器从 DB 重读用户状态和角色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70142" y="8067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三级权限控制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77000" y="1095375"/>
            <a:ext cx="5143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662166" y="1267778"/>
            <a:ext cx="34737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公开接口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：首页/商品列表/详情/分类/公告/登录/注册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2166" y="1524952"/>
            <a:ext cx="32546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认证接口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：发布/购物车/订单/消息/个人中心/地址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2166" y="1782128"/>
            <a:ext cx="31429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管理员接口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：/api/v1/admin/** → ROLE_ADMIN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2166" y="2039302"/>
            <a:ext cx="28979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CORS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：白名单来源 + AllowCredentials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2166" y="2296478"/>
            <a:ext cx="32038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全局异常处理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：@RestControllerAdvice 统一响应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5142" y="275939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验证码安全体系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095625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42416" y="3268028"/>
            <a:ext cx="78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类型隔离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：不同用途验证码存在不同 Redis Key（captcha:register:{email} vs captcha:reset:{email}），互相不可借用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2416" y="3487102"/>
            <a:ext cx="53890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防暴力破解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：密码重置 5次/15分钟频率限制 · 验证码 3次/5分钟 · 登录 10次/15分钟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2416" y="3706178"/>
            <a:ext cx="57071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防消费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：验证码只在业务操作成功后删除，中间任何校验失败不消耗验证码 · 重复密码检查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142" y="4045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数据库安全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381500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7166" y="4534852"/>
            <a:ext cx="24416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BCrypt 加密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：密码哈希存储，不可逆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7166" y="4792028"/>
            <a:ext cx="22550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软删除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：@TableLogic，数据可恢复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7166" y="5049202"/>
            <a:ext cx="36019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SQL 注入防护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：MyBatis 参数化查询 + 排序白名单校验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7166" y="5296852"/>
            <a:ext cx="31097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敏感信息脱敏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：手机号/邮箱在 VO 中自动打码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438150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662166" y="4534852"/>
            <a:ext cx="34004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XSS 防护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：商品描述 sanitizedDescription 三重过滤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2166" y="4792028"/>
            <a:ext cx="3333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文件上传安全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：MIME 类型白名单 · 5MB 大小限制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62166" y="5049202"/>
            <a:ext cx="4476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Nginx 安全头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：X-Frame-Options DENY · XSS Protection · nosniff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62166" y="5296852"/>
            <a:ext cx="30815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.env 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：敏感配置不入库，通过环境变量注入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0342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核心设计 · 数据库设计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142" y="759142"/>
            <a:ext cx="14258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13 张核心数据表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477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7675" y="1247299"/>
            <a:ext cx="7679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user 用户表</a:t>
            </a:r>
          </a:p>
        </p:txBody>
      </p:sp>
      <p:sp>
        <p:nvSpPr>
          <p:cNvPr id="9" name="Rectangle 9"/>
          <p:cNvSpPr/>
          <p:nvPr/>
        </p:nvSpPr>
        <p:spPr>
          <a:xfrm>
            <a:off x="2524125" y="10477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6100" y="124729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product 商品表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86250" y="10477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560326" y="1247299"/>
            <a:ext cx="10710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category 分类表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48375" y="10477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63796" y="1247299"/>
            <a:ext cx="9884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product_image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810500" y="10477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198275" y="1247299"/>
            <a:ext cx="8437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order 订单表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72625" y="10477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053427" y="1247299"/>
            <a:ext cx="6576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order_log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16954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87675" y="1894999"/>
            <a:ext cx="7679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cart 购物车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524125" y="16954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905009" y="1894999"/>
            <a:ext cx="8574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address 地址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0" y="16954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53352" y="1894999"/>
            <a:ext cx="8850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message 消息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048375" y="16954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49932" y="1894999"/>
            <a:ext cx="8161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810500" y="16954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170711" y="1894999"/>
            <a:ext cx="8988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favorite 收藏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572625" y="16954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994854" y="1894999"/>
            <a:ext cx="7747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review 评价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2343150"/>
            <a:ext cx="1619250" cy="523875"/>
          </a:xfrm>
          <a:prstGeom prst="roundRect">
            <a:avLst>
              <a:gd name="adj" fmla="val 10909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98093" y="2542699"/>
            <a:ext cx="9470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announcement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142" y="3045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关键设计决策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33813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047562" y="3553778"/>
            <a:ext cx="953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utf8mb4 编码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40410" y="3808095"/>
            <a:ext cx="11674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完整支持中文、Emoji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23536" y="4017645"/>
            <a:ext cx="18011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JDBC URL + 表 + Nginx 三道防线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24375" y="33813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599001" y="3553778"/>
            <a:ext cx="13749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FULLTEXT 全文索引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42629" y="3808095"/>
            <a:ext cx="12877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商品标题+描述全文搜索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91529" y="4017645"/>
            <a:ext cx="23899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CONCAT('%keyword%') + BOOLEAN 模式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286750" y="33813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438735" y="3553778"/>
            <a:ext cx="12202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软删除 + 逻辑外键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67679" y="3808095"/>
            <a:ext cx="13623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@TableLogic deleted_at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38322" y="4017645"/>
            <a:ext cx="12211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应用层保证引用完整性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5142" y="456914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订单状态机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62000" y="4905375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529697" y="5069681"/>
            <a:ext cx="71326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ENUM: 待付款 → 待发货 → 待收货 → 已完成 · 已取消 · order_log 记录每次状态变更 · 悲观锁防双重出售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600260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张可凡（队长）· 全栈开发 / 项目管理 / 测试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</a:t>
            </a:r>
          </a:p>
        </p:txBody>
      </p:sp>
      <p:sp>
        <p:nvSpPr>
          <p:cNvPr id="9" name="Rectangle 9"/>
          <p:cNvSpPr/>
          <p:nvPr/>
        </p:nvSpPr>
        <p:spPr>
          <a:xfrm>
            <a:off x="1285875" y="1257300"/>
            <a:ext cx="1524000" cy="1905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17459" y="1319212"/>
            <a:ext cx="86083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全栈 · PM · 测试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142" y="1616392"/>
            <a:ext cx="16702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Docker 容器化部署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905000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47166" y="2077402"/>
            <a:ext cx="60279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docker-compose.yml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编制 MySQL + Redis + SpringBoot + Nginx + phpMyAdmin 五容器架构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344102"/>
            <a:ext cx="40200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健康检查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按依赖顺序启动，MySQL/Redis healthy 后再启后端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610802"/>
            <a:ext cx="4901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数据持久化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三个 Docker Volume：mysql_data / redis_data / upload_data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2877502"/>
            <a:ext cx="47801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Nginx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反向代理 /api/* → backend:8080 · CORS · Gzip · 限流 30r/s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144202"/>
            <a:ext cx="37635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多环境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dev/prod/test 配置文件分离 + .env 敏感信息管理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410902"/>
            <a:ext cx="39667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时区修复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TZ=Asia/Shanghai 解决 UTC 偏移导致时间显示错误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166" y="3677602"/>
            <a:ext cx="43800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 初始化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4 个自动执行脚本：建库→种子数据→索引→图片更新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70142" y="1616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管理后台前端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1905000"/>
            <a:ext cx="5143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662166" y="2077402"/>
            <a:ext cx="32809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AdminLayout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侧边栏导航 + 路由鉴权 + 响应式折叠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2344102"/>
            <a:ext cx="34447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AdminUsers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用户表格 · 启用/禁用 · 角色分配 · 分页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2610802"/>
            <a:ext cx="36757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AdminProducts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审核(通过/驳回) · 违规下架 · 编辑弹窗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166" y="2877502"/>
            <a:ext cx="33823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AdminOrders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状态筛选 · 标记付款/发货/完成/取消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166" y="3144202"/>
            <a:ext cx="34026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AdminStats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ECharts 饼图+折线图 · dispose 防泄漏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166" y="3410902"/>
            <a:ext cx="33194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AdminAnnouncements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公告 CRUD · 发布/草稿状态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166" y="3677602"/>
            <a:ext cx="28487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Postman 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30+ 接口测试用例编写和执行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142" y="418814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项目文档 · 7 份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4524375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175243" y="4715828"/>
            <a:ext cx="78415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软件需求规格说明书 | 系统架构设计说明书 | 数据库设计说明书 | 接口设计说明书 | 测试报告 | 用户使用说明书 | 团队工作日报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3310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 · 项目管理与测试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142" y="1616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项目管理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905000"/>
            <a:ext cx="5238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47166" y="207740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项目计划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制定 7 天开发计划，分解 80+ 任务项，分配 5 人角色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166" y="2344102"/>
            <a:ext cx="32264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每日站会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沟通进度，协调前后端 30+ 接口联调对接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66" y="2610802"/>
            <a:ext cx="34436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版本控制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Git 分支管理，15+ commits，解决合并冲突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877502"/>
            <a:ext cx="50144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环境配置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.env / application-{dev,prod,test}.yml / settings-docker.xml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3144202"/>
            <a:ext cx="46293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README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18KB 项目文档：环境配置 + 部署指南 + 架构说明 + 故障排查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5142" y="38547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测试与质量保证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4191000"/>
            <a:ext cx="5238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47166" y="4363402"/>
            <a:ext cx="46014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Postman 接口测试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覆盖注册/登录/商品/订单/消息/通知/管理 7大模块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166" y="4630102"/>
            <a:ext cx="2878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JUnit 单元测试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14 个后端测试用例全部通过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166" y="4896802"/>
            <a:ext cx="33394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前后端联调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逐接口验证数据格式、状态码、异常处理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166" y="5163502"/>
            <a:ext cx="40514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Bug 修复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中文编码、时区偏移、JWT 401 刷新冲突等关键问题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142" y="1616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核心贡献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1905000"/>
            <a:ext cx="5143500" cy="3524250"/>
          </a:xfrm>
          <a:prstGeom prst="roundRect">
            <a:avLst>
              <a:gd name="adj" fmla="val 2162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57035" y="2164556"/>
            <a:ext cx="12313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Docker 部署架构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57797" y="2418874"/>
            <a:ext cx="25431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容器编排 + 健康检查 + 数据卷 + 网络隔离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57035" y="2736056"/>
            <a:ext cx="965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完整文档体系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57797" y="2990374"/>
            <a:ext cx="24381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7 份软件工程文档，需求→设计→测试→使用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57035" y="3307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管理后台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57797" y="3561874"/>
            <a:ext cx="27793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个管理页面 + 搜索/筛选/分页 + 7 种状态操作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57035" y="3879056"/>
            <a:ext cx="3294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测试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7797" y="4133374"/>
            <a:ext cx="19200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Postman 30+ · JUnit 14 全通过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7035" y="4450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团队协调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57797" y="4704874"/>
            <a:ext cx="19984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人 7 天高效协作，前后端 0 阻塞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57035" y="5022056"/>
            <a:ext cx="4884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代码量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7797" y="5276374"/>
            <a:ext cx="27142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 18,000+ / 后端 8,000+ / SQL 1,400+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24405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 · 前端开发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9" name="Rectangle 9"/>
          <p:cNvSpPr/>
          <p:nvPr/>
        </p:nvSpPr>
        <p:spPr>
          <a:xfrm>
            <a:off x="1285875" y="1257300"/>
            <a:ext cx="1143000" cy="1905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40586" y="1319212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142" y="1616392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前端工程与认证模块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905000"/>
            <a:ext cx="523875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47166" y="2058352"/>
            <a:ext cx="4466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Vue3+TS+Vite 工程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初始化 + Element Plus + Pinia + Router + Axios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306002"/>
            <a:ext cx="47518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设计令牌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CSS Variables 全局主题变量，覆盖 Element Plus 默认风格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553652"/>
            <a:ext cx="42158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登录页面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渐变背景 + 浮动几何图形动画，支持用户名/邮箱/手机号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2801302"/>
            <a:ext cx="35727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注册页面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邮箱验证码注册 + 60 秒倒计时 + 前端格式校验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048952"/>
            <a:ext cx="4017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找回密码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两步流程：邮箱验证 → 新密码设置 + 强度+一致性校验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296602"/>
            <a:ext cx="45479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Axios 封装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Token 自动注入 + 401 队列刷新 + 403 过期清除 + 错误分类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0142" y="1616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消息通知系统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905000"/>
            <a:ext cx="5143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62166" y="2058352"/>
            <a:ext cx="33677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消息页重写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双栏布局（340px 会话列表 + 聊天面板）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2166" y="2306002"/>
            <a:ext cx="36575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聊天气泡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我方绿色圆角右对齐 / 对方灰色左对齐 + 时间戳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2553652"/>
            <a:ext cx="26468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实时轮询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每 5 秒自动拉取当前会话新消息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2801302"/>
            <a:ext cx="28616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?to=userId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URL 参数自动打开指定用户会话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166" y="3048952"/>
            <a:ext cx="28094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商品页联系卖家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绿色按钮 + 未登录自动跳转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166" y="3296602"/>
            <a:ext cx="33994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通知铃铛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Bell 图标 + Popover + 点击跳转 + 30s 轮询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5142" y="40452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订单详情与评价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4381500"/>
            <a:ext cx="5238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47166" y="4534852"/>
            <a:ext cx="32122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买家卖家双视角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自动判断角色，显示不同操作按钮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7166" y="4782502"/>
            <a:ext cx="31627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全流程操作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支付→发货(物流录入)→收货→星级评价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7166" y="5030152"/>
            <a:ext cx="3381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状态进度条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可视化步骤 + 上下文提示 + 取消红色卡片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7166" y="5277802"/>
            <a:ext cx="36439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OrderVO 字段补充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buyerId/sellerId 支持前端角色判断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70142" y="4045268"/>
            <a:ext cx="122886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后端 Bug 修复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43815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62166" y="4534852"/>
            <a:ext cx="38271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验证码安全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类型隔离 + 防暴力破解 + 防消费 + 重复密码检查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62166" y="4782502"/>
            <a:ext cx="44773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浏览量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非卖家浏览才+1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消息通知联动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发消息+订单状态自动创建通知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87909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 · UI 动效与交互优化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142" y="1616392"/>
            <a:ext cx="1052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UI 动效系统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905000"/>
            <a:ext cx="52387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47166" y="2058352"/>
            <a:ext cx="44137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页面过渡动画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fade/slide route transition + mode out-in 平滑切换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166" y="2306002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回到顶部按钮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scroll&gt;400px 弹性缩放出现，圆形绿色悬浮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66" y="2553652"/>
            <a:ext cx="35894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 Shimmer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首页商品列表 8 个灰色占位卡片先展示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801302"/>
            <a:ext cx="34791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交错入场动画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fadeInUp + animationDelay 瀑布流效果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3048952"/>
            <a:ext cx="33536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导航栏滚动感知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scroll&gt;10px 毛玻璃模糊 + 底部阴影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3296602"/>
            <a:ext cx="41734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按钮微交互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hover 上浮1px+阴影 / active 下压回弹 / transition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544252"/>
            <a:ext cx="463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动画库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shimmer / shake / pulse / fadeInUp / floatAuth / cardIn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791902"/>
            <a:ext cx="40474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Element Plus 覆盖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按钮/标签/分页/输入框/卡片全局样式统一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0142" y="1616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技术亮点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905000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57035" y="2116931"/>
            <a:ext cx="11452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Token 队列刷新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57797" y="2371249"/>
            <a:ext cx="25365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多请求并发 401 只刷新一次，其余排队等待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57035" y="2688431"/>
            <a:ext cx="12835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验证码三段式安全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57797" y="2942749"/>
            <a:ext cx="17555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类型隔离 + 频率限制 + 防消费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57035" y="3259931"/>
            <a:ext cx="1347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CSS 设计令牌体系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57797" y="3514249"/>
            <a:ext cx="2379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var(--c-primary) 全局品牌色统一管理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57035" y="3831431"/>
            <a:ext cx="13074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骨架屏 + 交错动画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57797" y="408574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提升感知性能，减少白屏等待焦虑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142" y="4331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代码贡献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466725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-329279" y="4839652"/>
            <a:ext cx="12850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ForgotPassword.vue · MessagePage.vue(重写) · OrderDetail.vue(重写) · MainLayout.vue(通知铃铛) · App.vue(动效系统) · LoginPage.vue · request.ts · UserServiceImpl.java(安全修复)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214372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 · 前端开发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9" name="Rectangle 9"/>
          <p:cNvSpPr/>
          <p:nvPr/>
        </p:nvSpPr>
        <p:spPr>
          <a:xfrm>
            <a:off x="1285875" y="1257300"/>
            <a:ext cx="1143000" cy="1905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40586" y="1319212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142" y="161639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首页与商品模块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905000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47166" y="2058352"/>
            <a:ext cx="36410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Hero 横幅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渐变绿色背景 + 品牌标语 + 实时统计数据展示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306002"/>
            <a:ext cx="33734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CSS Animation 水平滚动轮播，鼠标悬停暂停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553652"/>
            <a:ext cx="30927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分类导航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8 个 Emoji 分类 Tab + 选中态绿色高亮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2801302"/>
            <a:ext cx="3676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商品网格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响应式 Grid(minmax 240px) + 卡片 hover 放大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048952"/>
            <a:ext cx="28259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时间格式化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刚刚/X分钟前/X小时前/X天前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296602"/>
            <a:ext cx="291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商品列表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多条件筛选 + URL参数同步 + 分页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166" y="3544252"/>
            <a:ext cx="34457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商品详情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图片画廊 + 成色标签 + HTML防XSS + 收藏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166" y="3791902"/>
            <a:ext cx="33960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商品发布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级联分类 + 多图上传 + 表单校验 + 封面回退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70142" y="1616392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购物车与订单列表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1905000"/>
            <a:ext cx="5143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62166" y="2058352"/>
            <a:ext cx="30143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复选框选择 + 数量调节 +/- + 全选/取消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2306002"/>
            <a:ext cx="27438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结算栏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已选N件 + 合计金额 + 去结算按钮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166" y="2553652"/>
            <a:ext cx="29083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数量防抖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修改后防抖提交后端，避免频繁请求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166" y="2801302"/>
            <a:ext cx="28910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订单列表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6 个状态 Tab + 买家/卖家视角切换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166" y="3048952"/>
            <a:ext cx="29719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订单卡片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订单号 + 商品标题 + 价格 + 状态标签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166" y="3296602"/>
            <a:ext cx="32161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状态映射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statusType() 在 4 页面复用，避免重复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142" y="418814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种子数据与图片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4524375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42416" y="4696778"/>
            <a:ext cx="82246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217 件商品种子 SQL（20 个分类）· 15 个用户数据 · 三版图片方案迭代 · 最终使用 Unsplash 验证真实照片 + Apple/Xiaomi CDN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9247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 · 管理后台与数据可视化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142" y="1616392"/>
            <a:ext cx="1568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管理后台 5 大模块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905000"/>
            <a:ext cx="3524250" cy="76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080175" y="2097881"/>
            <a:ext cx="8879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AdminUsers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8940" y="233172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用户列表 · 启用/禁用 · 角色分配 · 分页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476750" y="1905000"/>
            <a:ext cx="3524250" cy="76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663723" y="2097881"/>
            <a:ext cx="115030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AdminProducts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46719" y="2331720"/>
            <a:ext cx="21843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审核(通过/驳回) · 违规下架 · 编辑弹窗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191500" y="190500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07000" y="2097881"/>
            <a:ext cx="1007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AdminOrders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39708" y="2331720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状态流转 · 订单搜索 · 详情弹窗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2809875"/>
            <a:ext cx="3524250" cy="7620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080175" y="3002756"/>
            <a:ext cx="8879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AdminStats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8749" y="3236595"/>
            <a:ext cx="22507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ECharts 饼图 + 折线图 · dispose 防泄漏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476750" y="2809875"/>
            <a:ext cx="3524250" cy="7620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429060" y="3002756"/>
            <a:ext cx="16196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AdminAnnouncements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89207" y="3236595"/>
            <a:ext cx="16993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公告 CRUD · 已发布/草稿状态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191500" y="2809875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323066" y="3002756"/>
            <a:ext cx="9753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AdminLayout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39708" y="3236595"/>
            <a:ext cx="1742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侧边栏导航 · 路由鉴权 · 响应式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142" y="3902392"/>
            <a:ext cx="17879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ECharts 数据可视化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4238625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42416" y="4411028"/>
            <a:ext cx="33041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分类占比饼图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环形图展示 20 个分类的商品数量分布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2416" y="4649152"/>
            <a:ext cx="37776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每日趋势折线图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双线展示用户注册量和订单成交量时间趋势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2416" y="4887278"/>
            <a:ext cx="48350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自适应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窗口 resize 图表同步缩放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内存管理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onUnmounted dispose() 释放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70142" y="3902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代码统计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423862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57416" y="4458652"/>
            <a:ext cx="18651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20 个文件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· 约 5,230 行代码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7416" y="4696778"/>
            <a:ext cx="48802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覆盖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首页 · 商品模块(4页) · 购物车 · 订单列表 · 管理后台(6页) · 种子数据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57416" y="4934902"/>
            <a:ext cx="42592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图片方案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三次迭代：LoremFlickr → Picsum → Unsplash+AppleCDN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28440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 · 后端开发 A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9" name="Rectangle 9"/>
          <p:cNvSpPr/>
          <p:nvPr/>
        </p:nvSpPr>
        <p:spPr>
          <a:xfrm>
            <a:off x="1285875" y="1257300"/>
            <a:ext cx="1143000" cy="1905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40586" y="1319212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142" y="161639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安全与商品模块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905000"/>
            <a:ext cx="52387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47166" y="2058352"/>
            <a:ext cx="39784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Spring Security+JWT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无状态认证 + BCrypt 加密 + 三级权限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306002"/>
            <a:ext cx="38221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双Token机制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Access 2h + Refresh 7d + 自动刷新 + 黑名单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553652"/>
            <a:ext cx="33708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频率限制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登录 10次/15min · 验证码 3次/5min Redis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2801302"/>
            <a:ext cx="35063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商品发布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多图关联 + 封面自动设置 + DTO @Valid 校验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048952"/>
            <a:ext cx="4026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商品列表查询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分页+筛选+排序 + MySQL FULLTEXT 全文搜索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296602"/>
            <a:ext cx="32366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批量优化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分类名+卖家信息 1次JOIN替代N次查询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166" y="3544252"/>
            <a:ext cx="22228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浏览量优化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非卖家浏览才+1，防刷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166" y="3791902"/>
            <a:ext cx="35597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分类树+收藏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递归构建·Redis缓存·收藏/取消收藏·分页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70142" y="1616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订单核心流程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1905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62166" y="2058352"/>
            <a:ext cx="26854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悲观锁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selectByIdForUpdate 防双重出售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2306002"/>
            <a:ext cx="22157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自买自卖校验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不能购买自己的商品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166" y="2553652"/>
            <a:ext cx="32264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订单状态机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待付款→待发货→待收货→已完成/已取消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166" y="2801302"/>
            <a:ext cx="30497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订单日志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order_log 记录每次状态变更和操作人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166" y="30489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批量查询优化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商品+用户信息一次查出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166" y="3296602"/>
            <a:ext cx="35383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后台管理API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用户管理·商品审核·订单管理·数据统计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166" y="3544252"/>
            <a:ext cx="25725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Knife4j文档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自动生成Swagger接口文档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166" y="3791902"/>
            <a:ext cx="37069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工程配置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pom.xml依赖管理·逻辑删除·自动填充·分页插件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473892"/>
            <a:ext cx="50745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代码量 · 8,000+ 行 · 30+ API 端点 · 14 单元测试全通过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0342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 · 技术贡献总结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142" y="1616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核心技术亮点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952625"/>
            <a:ext cx="3524250" cy="133350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84456" y="2116931"/>
            <a:ext cx="16793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JWT 双Token 无感刷新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41861" y="2398395"/>
            <a:ext cx="13645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Access 2h + Refresh 7d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74152" y="2607945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请求队列排队防并发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95310" y="281749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黑名单即时失效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497" y="3027045"/>
            <a:ext cx="10592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三级RBAC权限控制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24375" y="1952625"/>
            <a:ext cx="3524250" cy="133350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03688" y="2116931"/>
            <a:ext cx="156562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SQL 优化 — 避免 N+1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2050" y="2398395"/>
            <a:ext cx="1408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分类名/卖家信息批量加载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61648" y="2607945"/>
            <a:ext cx="14497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1次JOIN替代N次单表查询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85493" y="2817495"/>
            <a:ext cx="10020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分类树 Redis 缓存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24868" y="3027045"/>
            <a:ext cx="11232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FULLTEXT 全文索引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86750" y="1952625"/>
            <a:ext cx="3333750" cy="133350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629870" y="211693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订单安全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9153" y="2398395"/>
            <a:ext cx="13889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悲观锁 selectForUpdate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85388" y="26079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自买自卖校验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24810" y="281749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状态机完整实现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24810" y="302704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订单日志全追溯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142" y="35690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数据库表设计贡献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390525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47166" y="4077652"/>
            <a:ext cx="4540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13 张表 DDL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user · product · category · product_image · address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7166" y="4344352"/>
            <a:ext cx="34850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order · order_log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· cart · message · notification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7166" y="4611052"/>
            <a:ext cx="24595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favorite · review · announcement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7166" y="4877752"/>
            <a:ext cx="3595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ENUM约束 · 唯一索引 · 全文索引 · 软删除 · 迁移脚本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3905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62166" y="4077652"/>
            <a:ext cx="31459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统一返回封装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Result / PageResult JSON标准化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62166" y="4344352"/>
            <a:ext cx="31040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全局异常处理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@RestControllerAdvice 异常统一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62166" y="4611052"/>
            <a:ext cx="28681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CORS 跨域配置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+ Knife4j API 文档自动生成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62166" y="4877752"/>
            <a:ext cx="16220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14 后端单元测试全部通过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28440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 · 后端开发 B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9" name="Rectangle 9"/>
          <p:cNvSpPr/>
          <p:nvPr/>
        </p:nvSpPr>
        <p:spPr>
          <a:xfrm>
            <a:off x="1285875" y="1257300"/>
            <a:ext cx="1143000" cy="1905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40586" y="1319212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142" y="1616392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购物车与消息通知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905000"/>
            <a:ext cx="523875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47166" y="2058352"/>
            <a:ext cx="34270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 CRUD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添加·列表·修改数量·删除 + 自动去重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306002"/>
            <a:ext cx="35384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站内信 5 端点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发送·接收·会话列表·标记已读·未读计数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553652"/>
            <a:ext cx="26832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系统通知 3 端点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列表·标记已读·未读计数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2801302"/>
            <a:ext cx="29507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会话聚合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按对话方分组 + 最后消息 + 未读计数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048952"/>
            <a:ext cx="29224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自动通知触发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发消息时自动创建通知给接收方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296602"/>
            <a:ext cx="32829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订单通知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下单·付款·发货·收货各环节通知买卖双方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0142" y="1616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数据统计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905000"/>
            <a:ext cx="5143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62166" y="2058352"/>
            <a:ext cx="38766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首页统计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/index/statistics → 用户总数·商品总数·订单总数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2166" y="2306002"/>
            <a:ext cx="35207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分类树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/category/list → 二级分类树结构 + Redis 缓存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2553652"/>
            <a:ext cx="36575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管理后台统计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用户量·商品量·成交量·分类占比·每日趋势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2801302"/>
            <a:ext cx="35801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公告模块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公开列表(无需认证) + 管理员 CRUD(5端点)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142" y="4045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文件上传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381500"/>
            <a:ext cx="5238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7166" y="4534852"/>
            <a:ext cx="28578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/upload/image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multipart/form-data 接收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7166" y="4782502"/>
            <a:ext cx="40054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格式校验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MIME 白名单 (jpg/jpeg/png/gif/webp) · 5MB 限制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7166" y="5030152"/>
            <a:ext cx="33782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 Volume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/data/zhuanzhuan/uploads 持久化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70142" y="4045268"/>
            <a:ext cx="10924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Docker 运维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438150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62166" y="4534852"/>
            <a:ext cx="34729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 Dockerfile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多阶段构建 (Maven编译 + JRE运行)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2166" y="4782502"/>
            <a:ext cx="35048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 初始化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建库建表 + 种子数据 + 自定义 my.cnf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62166" y="5030152"/>
            <a:ext cx="25528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密码认证 + AOF + 健康检查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354207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 · Docker 部署架构</a:t>
            </a:r>
          </a:p>
        </p:txBody>
      </p:sp>
      <p:sp>
        <p:nvSpPr>
          <p:cNvPr id="6" name="Ellipse 6"/>
          <p:cNvSpPr/>
          <p:nvPr/>
        </p:nvSpPr>
        <p:spPr>
          <a:xfrm>
            <a:off x="571500" y="857250"/>
            <a:ext cx="571500" cy="571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3617" y="10572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17" y="978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142" y="161639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五容器编排架构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952625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89227" y="2204085"/>
            <a:ext cx="4410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Nginx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2360" y="2474595"/>
            <a:ext cx="9147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Vue3 SPA :3000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5323" y="2673191"/>
            <a:ext cx="1028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反向代理+Gzip+限流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143250" y="1952625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734608" y="2204085"/>
            <a:ext cx="9127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SpringBoot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77686" y="2474595"/>
            <a:ext cx="8266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Java 17 :8080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52050" y="2673191"/>
            <a:ext cx="877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多环境+JWT安全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524500" y="1952625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114033" y="2204085"/>
            <a:ext cx="9164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MySQL 8.0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94057" y="2474595"/>
            <a:ext cx="9563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InnoDB+全文索引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5996" y="2673191"/>
            <a:ext cx="7925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utf8mb4字符集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905750" y="1952625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FCE4EC"/>
          </a:solidFill>
          <a:ln w="19050">
            <a:solidFill>
              <a:srgbClr val="C6282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0072" y="2204085"/>
            <a:ext cx="586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Redis 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40240" y="2474595"/>
            <a:ext cx="1026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缓存+Token黑名单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64169" y="2673191"/>
            <a:ext cx="5786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AOF持久化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0287000" y="1952625"/>
            <a:ext cx="1333500" cy="9525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24387" y="2220278"/>
            <a:ext cx="8587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66666"/>
                </a:solidFill>
                <a:latin typeface="Segoe UI"/>
                <a:ea typeface="Segoe UI"/>
                <a:cs typeface="Segoe UI"/>
              </a:rPr>
              <a:t>phpMyAdmin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96278" y="2482691"/>
            <a:ext cx="3149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:3001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46756" y="3085624"/>
            <a:ext cx="56984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Network Bridge (zhuanzhuan-net) · 容器间内部通信 · 仅前端和phpMyAdmin暴露端口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142" y="34737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部署运维贡献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810000"/>
            <a:ext cx="533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47166" y="3963352"/>
            <a:ext cx="35856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后端Dockerfile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多阶段构建(Maven编译层+JRE运行层)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7166" y="4211002"/>
            <a:ext cx="35239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前端Dockerfile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Vue3构建+Nginx部署+nginx.conf配置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7166" y="4458652"/>
            <a:ext cx="34026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MySQL初始化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4个自动脚本：建库→种子→索引→图片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7166" y="4706302"/>
            <a:ext cx="23326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密码认证+AOF+健康检查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7166" y="4953952"/>
            <a:ext cx="26170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phpMyAdmin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数据库可视化管理工具集成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381000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57035" y="402193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一键启动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57416" y="4268152"/>
            <a:ext cx="2039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docker-compose up -d --build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57035" y="45267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健康检查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57416" y="4772978"/>
            <a:ext cx="23674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MySQL/Redis healthy 后才启动后端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57035" y="500300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环境分离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57797" y="5209699"/>
            <a:ext cx="22149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dev/prod/test + .env 敏感信息管理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前端设计体系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142" y="806768"/>
            <a:ext cx="12133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CSS 设计令牌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7166" y="1248728"/>
            <a:ext cx="47406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主色调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--c-primary: #2D6A4F (森林绿) + --c-primary-dark: #1B4332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166" y="1486852"/>
            <a:ext cx="4544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强调色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--c-accent: #E76F51 (暖橙) + --c-accent-hover: #D65A3E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166" y="1724978"/>
            <a:ext cx="38988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背景色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--c-bg: #FDFBF7 (米白) + --c-surface: #FFFFFF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166" y="1963102"/>
            <a:ext cx="56266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文字色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--c-text: #1F2937 / --c-text-secondary: #6B7280 / --c-muted: #9CA3AF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166" y="2201228"/>
            <a:ext cx="8696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var(--radius-sm): 8px · var(--radius-md): 12px · var(--radius-lg): 16px · var(--shadow-md): 0 4px 12px rgba(0,0,0,.08)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70142" y="8067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组件库统一覆盖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77000" y="1095375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662166" y="1248728"/>
            <a:ext cx="4066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Element Plus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全局覆盖：按钮·标签·分页·输入框·卡片·对话框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2166" y="1486852"/>
            <a:ext cx="40603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按钮规范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primary=森林绿 plain=浅绿底 hover=深绿+上浮+阴影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2166" y="1724978"/>
            <a:ext cx="37988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标签规范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active=绿色高亮 hover=浅绿色 active-bar=绿色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2166" y="1963102"/>
            <a:ext cx="34152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卡片规范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圆角12px · 边框#E5E7EB · hover阴影提升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2166" y="2201228"/>
            <a:ext cx="30143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21 个页面统一使用这些令牌 · 品牌一致性 100%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5142" y="2568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动效系统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285750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7166" y="3010852"/>
            <a:ext cx="23641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路由过渡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fade/slide · mode=out-in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166" y="3248978"/>
            <a:ext cx="17544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Shimmer 1.5s 循环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166" y="3487102"/>
            <a:ext cx="18552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弹性缩放出现/隐藏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524375" y="285750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709541" y="3010852"/>
            <a:ext cx="18340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滚动导航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blur(12px) + 阴影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09541" y="3248978"/>
            <a:ext cx="17775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按钮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hover上浮 active下压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9541" y="3487102"/>
            <a:ext cx="14100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卡片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hover放大1.08x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286750" y="2857500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471916" y="3010852"/>
            <a:ext cx="17644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入场动画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fadeInUp + delay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71916" y="3248978"/>
            <a:ext cx="15282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通知铃铛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Popover 下拉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71916" y="348710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支付页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勾选+抖动动画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142" y="4045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用户体验优化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38150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42416" y="4553902"/>
            <a:ext cx="62583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实时通信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聊天5s轮询+通知30s轮询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地址选择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购买前必须选地址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通知可点击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跳转订单列表/聊天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42416" y="4792028"/>
            <a:ext cx="69019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发货流程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物流公司卡片选择+单号录入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物流追踪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可复制单号+物流卡片展示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评价系统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El-Rate 星级+文字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2416" y="5030152"/>
            <a:ext cx="53254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错误处理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403过期自动清除 · 网络错误分类提示 · 骨架屏替代白屏 · 空状态友好引导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测试与质量保证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142" y="806768"/>
            <a:ext cx="305796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JUnit 后端单元测试 (14 个全通过)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5334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7166" y="1267778"/>
            <a:ext cx="37427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UserServiceImplTest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注册·登录·Token刷新·发送验证码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166" y="1524952"/>
            <a:ext cx="30562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AddressServiceImplTest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地址CRUD·设为默认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166" y="1782128"/>
            <a:ext cx="3088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JwtUtilTest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Token生成·验证·过期·刷新Token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166" y="2039302"/>
            <a:ext cx="19851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ResultTest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统一返回封装测试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166" y="2296478"/>
            <a:ext cx="28594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UserControllerIntegrationTest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集成测试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70142" y="806768"/>
            <a:ext cx="26491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Postman 接口测试 (30+ 用例)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77000" y="1095375"/>
            <a:ext cx="5143500" cy="1428750"/>
          </a:xfrm>
          <a:prstGeom prst="roundRect">
            <a:avLst>
              <a:gd name="adj" fmla="val 5333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62166" y="1267778"/>
            <a:ext cx="33889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用户模块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注册·登录·退出·刷新·验证码·密码重置(6)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2166" y="1524952"/>
            <a:ext cx="29649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商品模块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发布·列表·详情·编辑·删除·收藏(6)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2166" y="1782128"/>
            <a:ext cx="29649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订单模块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创建·支付·取消·发货·收货·评价(6)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2166" y="2039302"/>
            <a:ext cx="26044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消息模块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发送·会话·未读·已读·通知(5)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2166" y="2296478"/>
            <a:ext cx="26822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管理后台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用户·商品·订单·统计·公告(5+)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5142" y="2759392"/>
            <a:ext cx="19696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前端测试 (8 个全通过)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048000"/>
            <a:ext cx="5334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7166" y="3220402"/>
            <a:ext cx="45557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auth.test.ts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Token存储·读取·清除 | </a:t>
            </a:r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store.test.ts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Pinia状态管理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166" y="3477578"/>
            <a:ext cx="4178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components.test.ts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组件渲染 | </a:t>
            </a:r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result.test.ts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API响应格式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0142" y="2759392"/>
            <a:ext cx="11705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Bug 修复记录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3048000"/>
            <a:ext cx="5143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62166" y="3220402"/>
            <a:ext cx="49390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严重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验证码类型隔离·密码重置Token消费·旧Token全站403·Docker时区偏移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166" y="3477578"/>
            <a:ext cx="35515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一般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卖家浏览量·商品图片匹配·物流录入·消息实时刷新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142" y="4140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文档体系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447675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42035" y="4641056"/>
            <a:ext cx="93378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SRS需求规格</a:t>
            </a:r>
            <a:r>
              <a:rPr lang="en-US" sz="112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·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系统架构设计</a:t>
            </a:r>
            <a:r>
              <a:rPr lang="en-US" sz="112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·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数据库设计</a:t>
            </a:r>
            <a:r>
              <a:rPr lang="en-US" sz="112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·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接口设计</a:t>
            </a:r>
            <a:r>
              <a:rPr lang="en-US" sz="112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·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测试报告</a:t>
            </a:r>
            <a:r>
              <a:rPr lang="en-US" sz="112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·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用户手册</a:t>
            </a:r>
            <a:r>
              <a:rPr lang="en-US" sz="112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·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工作日报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| 全部编译为LaTeX PDF | 答辩PPT 22页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项目成果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80962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465796" y="916305"/>
            <a:ext cx="11641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26,000+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4786" y="12758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总代码行数</a:t>
            </a:r>
          </a:p>
        </p:txBody>
      </p:sp>
      <p:sp>
        <p:nvSpPr>
          <p:cNvPr id="9" name="Rectangle 9"/>
          <p:cNvSpPr/>
          <p:nvPr/>
        </p:nvSpPr>
        <p:spPr>
          <a:xfrm>
            <a:off x="3524250" y="80962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554566" y="916305"/>
            <a:ext cx="5111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30+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48607" y="1275874"/>
            <a:ext cx="5230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API 端点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80962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398447" y="91630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04913" y="12758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前端页面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48750" y="80962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242327" y="9163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67163" y="12758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项目文档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142" y="1854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技术栈成果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21907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47166" y="2363152"/>
            <a:ext cx="37204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Vue3+TS+Vite5+ElementPlus+Pinia+Axios+ECharts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166" y="2610802"/>
            <a:ext cx="40633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SpringBoot3.2+MyBatisPlus3.5+Security+JWT+Knife4j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166" y="2858452"/>
            <a:ext cx="4567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MySQL8.0(13表+全文索引+软删除)+Redis7(AOF+黑名单+缓存)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166" y="3106102"/>
            <a:ext cx="40029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部署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Docker Compose 五容器+一键启动+健康检查+初始化脚本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77000" y="219075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62166" y="2363152"/>
            <a:ext cx="439240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JWT双Token+BCrypt+频率限制+验证码隔离+RBAC+CORS+XSS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166" y="2610802"/>
            <a:ext cx="41734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站内信5端点+通知3端点+订单联动+5s消息轮询+30s通知轮询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166" y="2858452"/>
            <a:ext cx="35030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JUnit14全通过+Postman30++前端Vitest8全通过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166" y="3106102"/>
            <a:ext cx="34484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17用户+217商品+20分类+18张Unsplash真实图片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142" y="34737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项目亮点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3810000"/>
            <a:ext cx="11049000" cy="133350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42035" y="3993356"/>
            <a:ext cx="7553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完整C2C闭环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注册→发布→浏览→沟通→下单→支付→发货→收货→评价 |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支付模拟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四步流程+三种方式+动画反馈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2035" y="4260056"/>
            <a:ext cx="81173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实时消息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5s轮询聊天+30s轮询通知+订单状态联动推送 |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安全多层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JWT双Token+BCrypt+频率限制+验证码隔离+RBAC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2035" y="4526756"/>
            <a:ext cx="67790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UI动效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骨架屏+过渡动画+滚动导航+按钮微交互+卡片入场 |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Docker化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五容器一键部署+自动初始化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2035" y="4793456"/>
            <a:ext cx="58841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前后端分离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RESTful API+JSON统一响应 | </a:t>
            </a:r>
            <a:r>
              <a:rPr lang="zh-CN" sz="112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完整文档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7份软件工程文档+22页答辩PPT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5142" y="5331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团队协作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5667375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583379" y="5831681"/>
            <a:ext cx="90252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7天 · 5人 · 15+ GitHub Commits · 30+ API接口联调 · 7份文档 · 22页PPT · Docker一键部署 · 217件种子数据 · 前后端零阻塞交付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20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0670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团队分工总览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9625"/>
            <a:ext cx="2190750" cy="2667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400175" y="971550"/>
            <a:ext cx="533400" cy="5334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64605" y="1168718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7105" y="1565910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3894" y="1796891"/>
            <a:ext cx="9459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全栈 · PM · 测试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7238" y="1998345"/>
            <a:ext cx="10613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五容器编排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7238" y="2207895"/>
            <a:ext cx="111841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Nginx反向代理+限流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417445"/>
            <a:ext cx="803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管理后台5页面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626995"/>
            <a:ext cx="10232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Postman 30+ 测试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836545"/>
            <a:ext cx="9606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7 份软件工程文档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0460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项目进度管理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905125" y="809625"/>
            <a:ext cx="2047875" cy="2667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3657600" y="971550"/>
            <a:ext cx="533400" cy="5334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822030" y="1168718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63772" y="15659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86308" y="1796891"/>
            <a:ext cx="47598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43238" y="1998345"/>
            <a:ext cx="7748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Vue3工程搭建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43238" y="2207895"/>
            <a:ext cx="11120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登录/注册/找回密码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43238" y="24174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消息通知系统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43238" y="2626995"/>
            <a:ext cx="803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订单详情+评价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43238" y="2836545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UI动效系统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43238" y="3046095"/>
            <a:ext cx="95387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后端安全Bug修复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095875" y="809625"/>
            <a:ext cx="2047875" cy="2667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5848350" y="971550"/>
            <a:ext cx="533400" cy="5334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12780" y="1168718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39333" y="15659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77058" y="1796891"/>
            <a:ext cx="47598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33988" y="1998345"/>
            <a:ext cx="803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首页+商品模块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33988" y="2207895"/>
            <a:ext cx="9242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购物车+订单列表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33988" y="2417445"/>
            <a:ext cx="803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管理后台5页面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33988" y="2626995"/>
            <a:ext cx="8528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ECharts可视化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33988" y="2836545"/>
            <a:ext cx="8152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217件种子数据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33988" y="30460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三版图片方案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286625" y="809625"/>
            <a:ext cx="2047875" cy="2667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40" name="Ellipse 40"/>
          <p:cNvSpPr/>
          <p:nvPr/>
        </p:nvSpPr>
        <p:spPr>
          <a:xfrm>
            <a:off x="8039100" y="971550"/>
            <a:ext cx="533400" cy="5334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203530" y="1168718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045272" y="15659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20722" y="1796891"/>
            <a:ext cx="5701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24738" y="1998345"/>
            <a:ext cx="1066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Security+JWT认证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24738" y="2207895"/>
            <a:ext cx="7712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商品+订单API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24738" y="2417445"/>
            <a:ext cx="7008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后台管理API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424738" y="26269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数据库表设计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24738" y="2836545"/>
            <a:ext cx="6637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14 单元测试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24738" y="3046095"/>
            <a:ext cx="10151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8,000+行后端代码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9477375" y="809625"/>
            <a:ext cx="2143125" cy="2667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10277475" y="971550"/>
            <a:ext cx="533400" cy="5334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441905" y="1168718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283647" y="15659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59097" y="1796891"/>
            <a:ext cx="5701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15488" y="1998345"/>
            <a:ext cx="9242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购物车+消息模块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615488" y="2207895"/>
            <a:ext cx="803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数据统计+通知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615488" y="24174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文件上传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615488" y="2626995"/>
            <a:ext cx="9023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Docker部署运维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15488" y="2836545"/>
            <a:ext cx="8624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前端Dockerfile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615488" y="3046095"/>
            <a:ext cx="94687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phpMyAdmin集成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371475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373564" y="3906202"/>
            <a:ext cx="94448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技术栈: Vue3 · TypeScript · Element Plus · SpringBoot 3 · MyBatis-Plus · MySQL 8.0 · Redis 7 · JWT · Docker · ECharts · Knife4j · Nginx</a:t>
            </a:r>
          </a:p>
        </p:txBody>
      </p:sp>
      <p:sp>
        <p:nvSpPr>
          <p:cNvPr id="63" name="Rectangle 63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21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100000">
                <a:srgbClr val="2D6A4F"/>
              </a:gs>
            </a:gsLst>
            <a:lin ang="1761465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905750" y="-952500"/>
            <a:ext cx="4191000" cy="419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3810000"/>
            <a:ext cx="3429000" cy="3429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171450"/>
            <a:ext cx="13335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738154" y="2023110"/>
            <a:ext cx="271569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spc="7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感谢聆听</a:t>
            </a:r>
          </a:p>
        </p:txBody>
      </p:sp>
      <p:sp>
        <p:nvSpPr>
          <p:cNvPr id="7" name="Line 7"/>
          <p:cNvSpPr/>
          <p:nvPr/>
        </p:nvSpPr>
        <p:spPr>
          <a:xfrm>
            <a:off x="4572000" y="2857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627159" y="3203258"/>
            <a:ext cx="2937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 — 校园二手物品交易平台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0987" y="3767614"/>
            <a:ext cx="227002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87545" y="4347210"/>
            <a:ext cx="30169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49628" y="4839652"/>
            <a:ext cx="16927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华中农业大学 · 2026年7月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2026-07-09T06:43:24Z</dcterms:created>
  <dcterms:modified xsi:type="dcterms:W3CDTF">2026-07-09T06:43:24Z</dcterms:modified>
  <cp:category/>
  <cp:contentStatus/>
</cp:coreProperties>
</file>